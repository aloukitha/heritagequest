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ebas Neue" panose="020B0606020202050201" pitchFamily="34" charset="0"/>
      <p:regular r:id="rId12"/>
    </p:embeddedFont>
    <p:embeddedFont>
      <p:font typeface="Bebas Neue Bold" panose="020B0604020202020204" charset="0"/>
      <p:regular r:id="rId13"/>
    </p:embeddedFont>
    <p:embeddedFont>
      <p:font typeface="Inter Semi-Bold" panose="020B060402020202020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85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38" Type="http://schemas.openxmlformats.org/officeDocument/2006/relationships/image" Target="../media/image84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83.png"/><Relationship Id="rId40" Type="http://schemas.openxmlformats.org/officeDocument/2006/relationships/image" Target="../media/image86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2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1.png"/><Relationship Id="rId8" Type="http://schemas.openxmlformats.org/officeDocument/2006/relationships/image" Target="../media/image54.png"/><Relationship Id="rId3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39" Type="http://schemas.openxmlformats.org/officeDocument/2006/relationships/image" Target="../media/image124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42" Type="http://schemas.openxmlformats.org/officeDocument/2006/relationships/image" Target="../media/image127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41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40" Type="http://schemas.openxmlformats.org/officeDocument/2006/relationships/image" Target="../media/image125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4" Type="http://schemas.openxmlformats.org/officeDocument/2006/relationships/image" Target="../media/image129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43" Type="http://schemas.openxmlformats.org/officeDocument/2006/relationships/image" Target="../media/image128.png"/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38" Type="http://schemas.openxmlformats.org/officeDocument/2006/relationships/image" Target="../media/image12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9" Type="http://schemas.openxmlformats.org/officeDocument/2006/relationships/image" Target="../media/image167.png"/><Relationship Id="rId21" Type="http://schemas.openxmlformats.org/officeDocument/2006/relationships/image" Target="../media/image149.png"/><Relationship Id="rId34" Type="http://schemas.openxmlformats.org/officeDocument/2006/relationships/image" Target="../media/image162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33" Type="http://schemas.openxmlformats.org/officeDocument/2006/relationships/image" Target="../media/image161.png"/><Relationship Id="rId38" Type="http://schemas.openxmlformats.org/officeDocument/2006/relationships/image" Target="../media/image166.png"/><Relationship Id="rId2" Type="http://schemas.openxmlformats.org/officeDocument/2006/relationships/image" Target="../media/image130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32" Type="http://schemas.openxmlformats.org/officeDocument/2006/relationships/image" Target="../media/image160.png"/><Relationship Id="rId37" Type="http://schemas.openxmlformats.org/officeDocument/2006/relationships/image" Target="../media/image165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36" Type="http://schemas.openxmlformats.org/officeDocument/2006/relationships/image" Target="../media/image164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31" Type="http://schemas.openxmlformats.org/officeDocument/2006/relationships/image" Target="../media/image159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35" Type="http://schemas.openxmlformats.org/officeDocument/2006/relationships/image" Target="../media/image163.png"/><Relationship Id="rId8" Type="http://schemas.openxmlformats.org/officeDocument/2006/relationships/image" Target="../media/image136.png"/><Relationship Id="rId3" Type="http://schemas.openxmlformats.org/officeDocument/2006/relationships/image" Target="../media/image13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26" Type="http://schemas.openxmlformats.org/officeDocument/2006/relationships/image" Target="../media/image192.png"/><Relationship Id="rId39" Type="http://schemas.openxmlformats.org/officeDocument/2006/relationships/image" Target="../media/image205.png"/><Relationship Id="rId21" Type="http://schemas.openxmlformats.org/officeDocument/2006/relationships/image" Target="../media/image187.png"/><Relationship Id="rId34" Type="http://schemas.openxmlformats.org/officeDocument/2006/relationships/image" Target="../media/image200.png"/><Relationship Id="rId42" Type="http://schemas.openxmlformats.org/officeDocument/2006/relationships/image" Target="../media/image208.png"/><Relationship Id="rId47" Type="http://schemas.openxmlformats.org/officeDocument/2006/relationships/image" Target="../media/image213.png"/><Relationship Id="rId50" Type="http://schemas.openxmlformats.org/officeDocument/2006/relationships/image" Target="../media/image216.png"/><Relationship Id="rId55" Type="http://schemas.openxmlformats.org/officeDocument/2006/relationships/image" Target="../media/image221.png"/><Relationship Id="rId7" Type="http://schemas.openxmlformats.org/officeDocument/2006/relationships/image" Target="../media/image173.png"/><Relationship Id="rId2" Type="http://schemas.openxmlformats.org/officeDocument/2006/relationships/image" Target="../media/image168.png"/><Relationship Id="rId16" Type="http://schemas.openxmlformats.org/officeDocument/2006/relationships/image" Target="../media/image182.png"/><Relationship Id="rId29" Type="http://schemas.openxmlformats.org/officeDocument/2006/relationships/image" Target="../media/image195.png"/><Relationship Id="rId11" Type="http://schemas.openxmlformats.org/officeDocument/2006/relationships/image" Target="../media/image177.png"/><Relationship Id="rId24" Type="http://schemas.openxmlformats.org/officeDocument/2006/relationships/image" Target="../media/image190.png"/><Relationship Id="rId32" Type="http://schemas.openxmlformats.org/officeDocument/2006/relationships/image" Target="../media/image198.png"/><Relationship Id="rId37" Type="http://schemas.openxmlformats.org/officeDocument/2006/relationships/image" Target="../media/image203.png"/><Relationship Id="rId40" Type="http://schemas.openxmlformats.org/officeDocument/2006/relationships/image" Target="../media/image206.png"/><Relationship Id="rId45" Type="http://schemas.openxmlformats.org/officeDocument/2006/relationships/image" Target="../media/image211.png"/><Relationship Id="rId53" Type="http://schemas.openxmlformats.org/officeDocument/2006/relationships/image" Target="../media/image219.png"/><Relationship Id="rId5" Type="http://schemas.openxmlformats.org/officeDocument/2006/relationships/image" Target="../media/image171.png"/><Relationship Id="rId19" Type="http://schemas.openxmlformats.org/officeDocument/2006/relationships/image" Target="../media/image185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Relationship Id="rId27" Type="http://schemas.openxmlformats.org/officeDocument/2006/relationships/image" Target="../media/image193.png"/><Relationship Id="rId30" Type="http://schemas.openxmlformats.org/officeDocument/2006/relationships/image" Target="../media/image196.png"/><Relationship Id="rId35" Type="http://schemas.openxmlformats.org/officeDocument/2006/relationships/image" Target="../media/image201.png"/><Relationship Id="rId43" Type="http://schemas.openxmlformats.org/officeDocument/2006/relationships/image" Target="../media/image209.png"/><Relationship Id="rId48" Type="http://schemas.openxmlformats.org/officeDocument/2006/relationships/image" Target="../media/image214.png"/><Relationship Id="rId56" Type="http://schemas.openxmlformats.org/officeDocument/2006/relationships/image" Target="../media/image222.png"/><Relationship Id="rId8" Type="http://schemas.openxmlformats.org/officeDocument/2006/relationships/image" Target="../media/image174.png"/><Relationship Id="rId51" Type="http://schemas.openxmlformats.org/officeDocument/2006/relationships/image" Target="../media/image217.png"/><Relationship Id="rId3" Type="http://schemas.openxmlformats.org/officeDocument/2006/relationships/image" Target="../media/image169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5" Type="http://schemas.openxmlformats.org/officeDocument/2006/relationships/image" Target="../media/image191.png"/><Relationship Id="rId33" Type="http://schemas.openxmlformats.org/officeDocument/2006/relationships/image" Target="../media/image199.png"/><Relationship Id="rId38" Type="http://schemas.openxmlformats.org/officeDocument/2006/relationships/image" Target="../media/image204.png"/><Relationship Id="rId46" Type="http://schemas.openxmlformats.org/officeDocument/2006/relationships/image" Target="../media/image212.png"/><Relationship Id="rId20" Type="http://schemas.openxmlformats.org/officeDocument/2006/relationships/image" Target="../media/image186.png"/><Relationship Id="rId41" Type="http://schemas.openxmlformats.org/officeDocument/2006/relationships/image" Target="../media/image207.png"/><Relationship Id="rId54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28" Type="http://schemas.openxmlformats.org/officeDocument/2006/relationships/image" Target="../media/image194.png"/><Relationship Id="rId36" Type="http://schemas.openxmlformats.org/officeDocument/2006/relationships/image" Target="../media/image202.png"/><Relationship Id="rId49" Type="http://schemas.openxmlformats.org/officeDocument/2006/relationships/image" Target="../media/image215.png"/><Relationship Id="rId57" Type="http://schemas.openxmlformats.org/officeDocument/2006/relationships/image" Target="../media/image223.png"/><Relationship Id="rId10" Type="http://schemas.openxmlformats.org/officeDocument/2006/relationships/image" Target="../media/image176.png"/><Relationship Id="rId31" Type="http://schemas.openxmlformats.org/officeDocument/2006/relationships/image" Target="../media/image197.png"/><Relationship Id="rId44" Type="http://schemas.openxmlformats.org/officeDocument/2006/relationships/image" Target="../media/image210.png"/><Relationship Id="rId52" Type="http://schemas.openxmlformats.org/officeDocument/2006/relationships/image" Target="../media/image21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26" Type="http://schemas.openxmlformats.org/officeDocument/2006/relationships/image" Target="../media/image248.png"/><Relationship Id="rId21" Type="http://schemas.openxmlformats.org/officeDocument/2006/relationships/image" Target="../media/image243.png"/><Relationship Id="rId34" Type="http://schemas.openxmlformats.org/officeDocument/2006/relationships/image" Target="../media/image256.png"/><Relationship Id="rId7" Type="http://schemas.openxmlformats.org/officeDocument/2006/relationships/image" Target="../media/image229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5" Type="http://schemas.openxmlformats.org/officeDocument/2006/relationships/image" Target="../media/image247.png"/><Relationship Id="rId33" Type="http://schemas.openxmlformats.org/officeDocument/2006/relationships/image" Target="../media/image255.png"/><Relationship Id="rId2" Type="http://schemas.openxmlformats.org/officeDocument/2006/relationships/image" Target="../media/image224.png"/><Relationship Id="rId16" Type="http://schemas.openxmlformats.org/officeDocument/2006/relationships/image" Target="../media/image238.png"/><Relationship Id="rId20" Type="http://schemas.openxmlformats.org/officeDocument/2006/relationships/image" Target="../media/image242.png"/><Relationship Id="rId29" Type="http://schemas.openxmlformats.org/officeDocument/2006/relationships/image" Target="../media/image2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24" Type="http://schemas.openxmlformats.org/officeDocument/2006/relationships/image" Target="../media/image246.png"/><Relationship Id="rId32" Type="http://schemas.openxmlformats.org/officeDocument/2006/relationships/image" Target="../media/image254.png"/><Relationship Id="rId37" Type="http://schemas.openxmlformats.org/officeDocument/2006/relationships/image" Target="../media/image259.png"/><Relationship Id="rId5" Type="http://schemas.openxmlformats.org/officeDocument/2006/relationships/image" Target="../media/image227.png"/><Relationship Id="rId15" Type="http://schemas.openxmlformats.org/officeDocument/2006/relationships/image" Target="../media/image237.png"/><Relationship Id="rId23" Type="http://schemas.openxmlformats.org/officeDocument/2006/relationships/image" Target="../media/image245.png"/><Relationship Id="rId28" Type="http://schemas.openxmlformats.org/officeDocument/2006/relationships/image" Target="../media/image250.png"/><Relationship Id="rId36" Type="http://schemas.openxmlformats.org/officeDocument/2006/relationships/image" Target="../media/image258.png"/><Relationship Id="rId10" Type="http://schemas.openxmlformats.org/officeDocument/2006/relationships/image" Target="../media/image232.png"/><Relationship Id="rId19" Type="http://schemas.openxmlformats.org/officeDocument/2006/relationships/image" Target="../media/image241.png"/><Relationship Id="rId31" Type="http://schemas.openxmlformats.org/officeDocument/2006/relationships/image" Target="../media/image253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Relationship Id="rId22" Type="http://schemas.openxmlformats.org/officeDocument/2006/relationships/image" Target="../media/image244.png"/><Relationship Id="rId27" Type="http://schemas.openxmlformats.org/officeDocument/2006/relationships/image" Target="../media/image249.png"/><Relationship Id="rId30" Type="http://schemas.openxmlformats.org/officeDocument/2006/relationships/image" Target="../media/image252.png"/><Relationship Id="rId35" Type="http://schemas.openxmlformats.org/officeDocument/2006/relationships/image" Target="../media/image257.png"/><Relationship Id="rId8" Type="http://schemas.openxmlformats.org/officeDocument/2006/relationships/image" Target="../media/image230.png"/><Relationship Id="rId3" Type="http://schemas.openxmlformats.org/officeDocument/2006/relationships/image" Target="../media/image2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71.png"/><Relationship Id="rId18" Type="http://schemas.openxmlformats.org/officeDocument/2006/relationships/image" Target="../media/image276.png"/><Relationship Id="rId26" Type="http://schemas.openxmlformats.org/officeDocument/2006/relationships/image" Target="../media/image284.png"/><Relationship Id="rId3" Type="http://schemas.openxmlformats.org/officeDocument/2006/relationships/image" Target="../media/image261.png"/><Relationship Id="rId21" Type="http://schemas.openxmlformats.org/officeDocument/2006/relationships/image" Target="../media/image279.png"/><Relationship Id="rId7" Type="http://schemas.openxmlformats.org/officeDocument/2006/relationships/image" Target="../media/image265.png"/><Relationship Id="rId12" Type="http://schemas.openxmlformats.org/officeDocument/2006/relationships/image" Target="../media/image270.png"/><Relationship Id="rId17" Type="http://schemas.openxmlformats.org/officeDocument/2006/relationships/image" Target="../media/image275.png"/><Relationship Id="rId25" Type="http://schemas.openxmlformats.org/officeDocument/2006/relationships/image" Target="../media/image283.png"/><Relationship Id="rId2" Type="http://schemas.openxmlformats.org/officeDocument/2006/relationships/image" Target="../media/image260.png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24" Type="http://schemas.openxmlformats.org/officeDocument/2006/relationships/image" Target="../media/image282.png"/><Relationship Id="rId5" Type="http://schemas.openxmlformats.org/officeDocument/2006/relationships/image" Target="../media/image263.png"/><Relationship Id="rId15" Type="http://schemas.openxmlformats.org/officeDocument/2006/relationships/image" Target="../media/image273.png"/><Relationship Id="rId23" Type="http://schemas.openxmlformats.org/officeDocument/2006/relationships/image" Target="../media/image281.png"/><Relationship Id="rId10" Type="http://schemas.openxmlformats.org/officeDocument/2006/relationships/image" Target="../media/image268.png"/><Relationship Id="rId19" Type="http://schemas.openxmlformats.org/officeDocument/2006/relationships/image" Target="../media/image277.png"/><Relationship Id="rId4" Type="http://schemas.openxmlformats.org/officeDocument/2006/relationships/image" Target="../media/image262.png"/><Relationship Id="rId9" Type="http://schemas.openxmlformats.org/officeDocument/2006/relationships/image" Target="../media/image267.png"/><Relationship Id="rId14" Type="http://schemas.openxmlformats.org/officeDocument/2006/relationships/image" Target="../media/image272.png"/><Relationship Id="rId22" Type="http://schemas.openxmlformats.org/officeDocument/2006/relationships/image" Target="../media/image280.png"/><Relationship Id="rId27" Type="http://schemas.openxmlformats.org/officeDocument/2006/relationships/image" Target="../media/image2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10" Type="http://schemas.openxmlformats.org/officeDocument/2006/relationships/image" Target="../media/image294.png"/><Relationship Id="rId4" Type="http://schemas.openxmlformats.org/officeDocument/2006/relationships/image" Target="../media/image288.png"/><Relationship Id="rId9" Type="http://schemas.openxmlformats.org/officeDocument/2006/relationships/image" Target="../media/image2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51818" y="0"/>
            <a:ext cx="8509608" cy="2153601"/>
          </a:xfrm>
          <a:custGeom>
            <a:avLst/>
            <a:gdLst/>
            <a:ahLst/>
            <a:cxnLst/>
            <a:rect l="l" t="t" r="r" b="b"/>
            <a:pathLst>
              <a:path w="8509608" h="2153601">
                <a:moveTo>
                  <a:pt x="0" y="0"/>
                </a:moveTo>
                <a:lnTo>
                  <a:pt x="8509608" y="0"/>
                </a:lnTo>
                <a:lnTo>
                  <a:pt x="850960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2823" y="1366959"/>
            <a:ext cx="5616935" cy="125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07"/>
              </a:lnSpc>
            </a:pPr>
            <a:r>
              <a:rPr lang="en-US" sz="9307" b="1" dirty="0">
                <a:solidFill>
                  <a:srgbClr val="641113"/>
                </a:solidFill>
                <a:latin typeface="Roboto Bold"/>
                <a:ea typeface="Roboto Bold"/>
                <a:cs typeface="Roboto Bold"/>
                <a:sym typeface="Roboto Bold"/>
              </a:rPr>
              <a:t>HERITAGE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19619" y="1377934"/>
            <a:ext cx="3654485" cy="123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6"/>
              </a:lnSpc>
            </a:pPr>
            <a:r>
              <a:rPr lang="en-US" sz="9146" b="1" dirty="0">
                <a:solidFill>
                  <a:srgbClr val="E89B18"/>
                </a:solidFill>
                <a:latin typeface="Roboto Bold"/>
                <a:ea typeface="Roboto Bold"/>
                <a:cs typeface="Roboto Bold"/>
                <a:sym typeface="Roboto Bold"/>
              </a:rPr>
              <a:t>QUEST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569017"/>
            <a:ext cx="9592450" cy="437279"/>
          </a:xfrm>
          <a:custGeom>
            <a:avLst/>
            <a:gdLst/>
            <a:ahLst/>
            <a:cxnLst/>
            <a:rect l="l" t="t" r="r" b="b"/>
            <a:pathLst>
              <a:path w="9592450" h="437279">
                <a:moveTo>
                  <a:pt x="0" y="0"/>
                </a:moveTo>
                <a:lnTo>
                  <a:pt x="9592450" y="0"/>
                </a:lnTo>
                <a:lnTo>
                  <a:pt x="9592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7675" y="3208178"/>
            <a:ext cx="8489557" cy="104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234" b="1">
                <a:solidFill>
                  <a:srgbClr val="641113"/>
                </a:solidFill>
                <a:latin typeface="Roboto Bold"/>
                <a:ea typeface="Roboto Bold"/>
                <a:cs typeface="Roboto Bold"/>
                <a:sym typeface="Roboto Bold"/>
              </a:rPr>
              <a:t>Discover India's Heritage, Explore Its History, Experience the Adventure.</a:t>
            </a:r>
          </a:p>
        </p:txBody>
      </p:sp>
      <p:sp>
        <p:nvSpPr>
          <p:cNvPr id="8" name="Freeform 8"/>
          <p:cNvSpPr/>
          <p:nvPr/>
        </p:nvSpPr>
        <p:spPr>
          <a:xfrm>
            <a:off x="426574" y="4493047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0729" y="4753661"/>
            <a:ext cx="6184116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1">
                <a:solidFill>
                  <a:srgbClr val="121A37"/>
                </a:solidFill>
                <a:latin typeface="Roboto Bold"/>
                <a:ea typeface="Roboto Bold"/>
                <a:cs typeface="Roboto Bold"/>
                <a:sym typeface="Roboto Bold"/>
              </a:rPr>
              <a:t>An Interactive Heritage Exploration and Gamified Learning Platform.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5783021"/>
            <a:ext cx="7404890" cy="2361309"/>
          </a:xfrm>
          <a:custGeom>
            <a:avLst/>
            <a:gdLst/>
            <a:ahLst/>
            <a:cxnLst/>
            <a:rect l="l" t="t" r="r" b="b"/>
            <a:pathLst>
              <a:path w="7404890" h="2361309">
                <a:moveTo>
                  <a:pt x="0" y="0"/>
                </a:moveTo>
                <a:lnTo>
                  <a:pt x="7404890" y="0"/>
                </a:lnTo>
                <a:lnTo>
                  <a:pt x="740489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6574" y="5990729"/>
            <a:ext cx="229694" cy="1727254"/>
          </a:xfrm>
          <a:custGeom>
            <a:avLst/>
            <a:gdLst/>
            <a:ahLst/>
            <a:cxnLst/>
            <a:rect l="l" t="t" r="r" b="b"/>
            <a:pathLst>
              <a:path w="229694" h="172725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03672" y="6954316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6D8C2"/>
                </a:solidFill>
                <a:latin typeface="Roboto"/>
                <a:ea typeface="Roboto"/>
                <a:cs typeface="Roboto"/>
                <a:sym typeface="Roboto"/>
              </a:rPr>
              <a:t>M. Aloukitha Surin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3672" y="7376020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6D8C2"/>
                </a:solidFill>
                <a:latin typeface="Roboto"/>
                <a:ea typeface="Roboto"/>
                <a:cs typeface="Roboto"/>
                <a:sym typeface="Roboto"/>
              </a:rPr>
              <a:t>Ch. Varalakshmi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9204733"/>
            <a:ext cx="10894048" cy="1082267"/>
          </a:xfrm>
          <a:custGeom>
            <a:avLst/>
            <a:gdLst/>
            <a:ahLst/>
            <a:cxnLst/>
            <a:rect l="l" t="t" r="r" b="b"/>
            <a:pathLst>
              <a:path w="10894048" h="1082267">
                <a:moveTo>
                  <a:pt x="0" y="0"/>
                </a:moveTo>
                <a:lnTo>
                  <a:pt x="10894048" y="0"/>
                </a:lnTo>
                <a:lnTo>
                  <a:pt x="10894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62570" y="8680356"/>
            <a:ext cx="7099102" cy="35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b="1">
                <a:solidFill>
                  <a:srgbClr val="121A37"/>
                </a:solidFill>
                <a:latin typeface="Roboto Bold"/>
                <a:ea typeface="Roboto Bold"/>
                <a:cs typeface="Roboto Bold"/>
                <a:sym typeface="Roboto Bold"/>
              </a:rPr>
              <a:t>N.B.K.R. Institute of Science and Technology (NBKRIST)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570" y="8249549"/>
            <a:ext cx="7099102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>
                <a:solidFill>
                  <a:srgbClr val="121A37"/>
                </a:solidFill>
                <a:latin typeface="Roboto Bold"/>
                <a:ea typeface="Roboto Bold"/>
                <a:cs typeface="Roboto Bold"/>
                <a:sym typeface="Roboto Bold"/>
              </a:rPr>
              <a:t>III B.Tech – Computer Science and Engineering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672" y="6562734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6D8C2"/>
                </a:solidFill>
                <a:latin typeface="Roboto"/>
                <a:ea typeface="Roboto"/>
                <a:cs typeface="Roboto"/>
                <a:sym typeface="Roboto"/>
              </a:rPr>
              <a:t>G. Yaswini Priya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3672" y="6110909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6D8C2"/>
                </a:solidFill>
                <a:latin typeface="Roboto"/>
                <a:ea typeface="Roboto"/>
                <a:cs typeface="Roboto"/>
                <a:sym typeface="Roboto"/>
              </a:rPr>
              <a:t>Ch. Deekshitha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57625" y="6110909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89B18"/>
                </a:solidFill>
                <a:latin typeface="Roboto"/>
                <a:ea typeface="Roboto"/>
                <a:cs typeface="Roboto"/>
                <a:sym typeface="Roboto"/>
              </a:rPr>
              <a:t>24KB1A05B1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57625" y="6562734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89B18"/>
                </a:solidFill>
                <a:latin typeface="Roboto"/>
                <a:ea typeface="Roboto"/>
                <a:cs typeface="Roboto"/>
                <a:sym typeface="Roboto"/>
              </a:rPr>
              <a:t>24KB1A05G2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57625" y="6954316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89B18"/>
                </a:solidFill>
                <a:latin typeface="Roboto"/>
                <a:ea typeface="Roboto"/>
                <a:cs typeface="Roboto"/>
                <a:sym typeface="Roboto"/>
              </a:rPr>
              <a:t>24KB1A05Y2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57625" y="7376020"/>
            <a:ext cx="2678906" cy="36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E89B18"/>
                </a:solidFill>
                <a:latin typeface="Roboto"/>
                <a:ea typeface="Roboto"/>
                <a:cs typeface="Roboto"/>
                <a:sym typeface="Roboto"/>
              </a:rPr>
              <a:t>25KB5A0539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2153601"/>
          </a:xfrm>
          <a:custGeom>
            <a:avLst/>
            <a:gdLst/>
            <a:ahLst/>
            <a:cxnLst/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352038"/>
            <a:ext cx="9144000" cy="1300906"/>
          </a:xfrm>
          <a:custGeom>
            <a:avLst/>
            <a:gdLst/>
            <a:ahLst/>
            <a:cxnLst/>
            <a:rect l="l" t="t" r="r" b="b"/>
            <a:pathLst>
              <a:path w="9144000" h="1300906">
                <a:moveTo>
                  <a:pt x="0" y="0"/>
                </a:moveTo>
                <a:lnTo>
                  <a:pt x="9144000" y="0"/>
                </a:lnTo>
                <a:lnTo>
                  <a:pt x="914400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192403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1743" y="790027"/>
            <a:ext cx="4871756" cy="100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6800" b="1" dirty="0">
                <a:solidFill>
                  <a:srgbClr val="60161A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2792" y="2532978"/>
            <a:ext cx="2445773" cy="52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537" b="1">
                <a:solidFill>
                  <a:srgbClr val="101937"/>
                </a:solidFill>
                <a:latin typeface="Roboto Bold"/>
                <a:ea typeface="Roboto Bold"/>
                <a:cs typeface="Roboto Bold"/>
                <a:sym typeface="Roboto Bold"/>
              </a:rPr>
              <a:t>Welcome 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179" y="2998361"/>
            <a:ext cx="4949290" cy="1182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6"/>
              </a:lnSpc>
            </a:pPr>
            <a:r>
              <a:rPr lang="en-US" sz="8046" b="1" dirty="0">
                <a:solidFill>
                  <a:srgbClr val="60161A"/>
                </a:solidFill>
                <a:latin typeface="Roboto Bold"/>
                <a:ea typeface="Roboto Bold"/>
                <a:cs typeface="Roboto Bold"/>
                <a:sym typeface="Roboto Bold"/>
              </a:rPr>
              <a:t>HERITAGE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73194" y="2998361"/>
            <a:ext cx="3287615" cy="1182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6"/>
              </a:lnSpc>
            </a:pPr>
            <a:r>
              <a:rPr lang="en-US" sz="8046" b="1">
                <a:solidFill>
                  <a:srgbClr val="ED9E0B"/>
                </a:solidFill>
                <a:latin typeface="Roboto Bold"/>
                <a:ea typeface="Roboto Bold"/>
                <a:cs typeface="Roboto Bold"/>
                <a:sym typeface="Roboto Bold"/>
              </a:rPr>
              <a:t>QUEST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9880" y="4249913"/>
            <a:ext cx="6737030" cy="102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537" b="1">
                <a:solidFill>
                  <a:srgbClr val="101937"/>
                </a:solidFill>
                <a:latin typeface="Roboto Bold"/>
                <a:ea typeface="Roboto Bold"/>
                <a:cs typeface="Roboto Bold"/>
                <a:sym typeface="Roboto Bold"/>
              </a:rPr>
              <a:t>Explore India's Heritage Through Interactive Adventures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564382"/>
            <a:ext cx="3500096" cy="229572"/>
          </a:xfrm>
          <a:custGeom>
            <a:avLst/>
            <a:gdLst/>
            <a:ahLst/>
            <a:cxnLst/>
            <a:rect l="l" t="t" r="r" b="b"/>
            <a:pathLst>
              <a:path w="3500096" h="229572">
                <a:moveTo>
                  <a:pt x="0" y="0"/>
                </a:moveTo>
                <a:lnTo>
                  <a:pt x="3500096" y="0"/>
                </a:lnTo>
                <a:lnTo>
                  <a:pt x="3500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97013" y="6017684"/>
            <a:ext cx="6023682" cy="36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351">
                <a:solidFill>
                  <a:srgbClr val="101937"/>
                </a:solidFill>
                <a:latin typeface="Roboto"/>
                <a:ea typeface="Roboto"/>
                <a:cs typeface="Roboto"/>
                <a:sym typeface="Roboto"/>
              </a:rPr>
              <a:t>Discover historical and cultural destinations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6663" y="6589996"/>
            <a:ext cx="5058681" cy="36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351">
                <a:solidFill>
                  <a:srgbClr val="101937"/>
                </a:solidFill>
                <a:latin typeface="Roboto"/>
                <a:ea typeface="Roboto"/>
                <a:cs typeface="Roboto"/>
                <a:sym typeface="Roboto"/>
              </a:rPr>
              <a:t>Explore places on an interactive 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371" y="7162308"/>
            <a:ext cx="7587870" cy="36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351">
                <a:solidFill>
                  <a:srgbClr val="101937"/>
                </a:solidFill>
                <a:latin typeface="Roboto"/>
                <a:ea typeface="Roboto"/>
                <a:cs typeface="Roboto"/>
                <a:sym typeface="Roboto"/>
              </a:rPr>
              <a:t>Learn through adventure-based challenges and quizzes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2649" y="7734620"/>
            <a:ext cx="6460115" cy="36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351">
                <a:solidFill>
                  <a:srgbClr val="101937"/>
                </a:solidFill>
                <a:latin typeface="Roboto"/>
                <a:ea typeface="Roboto"/>
                <a:cs typeface="Roboto"/>
                <a:sym typeface="Roboto"/>
              </a:rPr>
              <a:t>Track your learning progress with your account</a:t>
            </a:r>
          </a:p>
        </p:txBody>
      </p:sp>
      <p:sp>
        <p:nvSpPr>
          <p:cNvPr id="16" name="Freeform 16"/>
          <p:cNvSpPr/>
          <p:nvPr/>
        </p:nvSpPr>
        <p:spPr>
          <a:xfrm>
            <a:off x="9351818" y="426348"/>
            <a:ext cx="5895474" cy="6220301"/>
          </a:xfrm>
          <a:custGeom>
            <a:avLst/>
            <a:gdLst/>
            <a:ahLst/>
            <a:cxnLst/>
            <a:rect l="l" t="t" r="r" b="b"/>
            <a:pathLst>
              <a:path w="5895474" h="6220301">
                <a:moveTo>
                  <a:pt x="0" y="0"/>
                </a:moveTo>
                <a:lnTo>
                  <a:pt x="5895474" y="0"/>
                </a:lnTo>
                <a:lnTo>
                  <a:pt x="5895474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706488" y="5356674"/>
            <a:ext cx="3270402" cy="4296271"/>
          </a:xfrm>
          <a:custGeom>
            <a:avLst/>
            <a:gdLst/>
            <a:ahLst/>
            <a:cxnLst/>
            <a:rect l="l" t="t" r="r" b="b"/>
            <a:pathLst>
              <a:path w="3270402" h="4296271">
                <a:moveTo>
                  <a:pt x="0" y="0"/>
                </a:moveTo>
                <a:lnTo>
                  <a:pt x="3270402" y="0"/>
                </a:lnTo>
                <a:lnTo>
                  <a:pt x="327040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925244" y="5564382"/>
            <a:ext cx="2832890" cy="3869923"/>
          </a:xfrm>
          <a:custGeom>
            <a:avLst/>
            <a:gdLst/>
            <a:ahLst/>
            <a:cxnLst/>
            <a:rect l="l" t="t" r="r" b="b"/>
            <a:pathLst>
              <a:path w="2832890" h="3869923">
                <a:moveTo>
                  <a:pt x="0" y="0"/>
                </a:moveTo>
                <a:lnTo>
                  <a:pt x="2832890" y="0"/>
                </a:lnTo>
                <a:lnTo>
                  <a:pt x="283289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144000" y="7925691"/>
            <a:ext cx="2614134" cy="1508614"/>
          </a:xfrm>
          <a:custGeom>
            <a:avLst/>
            <a:gdLst/>
            <a:ahLst/>
            <a:cxnLst/>
            <a:rect l="l" t="t" r="r" b="b"/>
            <a:pathLst>
              <a:path w="2614134" h="1508614">
                <a:moveTo>
                  <a:pt x="0" y="0"/>
                </a:moveTo>
                <a:lnTo>
                  <a:pt x="2614134" y="0"/>
                </a:lnTo>
                <a:lnTo>
                  <a:pt x="261413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 rot="-152929">
            <a:off x="9677506" y="8391777"/>
            <a:ext cx="1410248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 b="1">
                <a:solidFill>
                  <a:srgbClr val="E6D9C5"/>
                </a:solidFill>
                <a:latin typeface="Roboto Bold"/>
                <a:ea typeface="Roboto Bold"/>
                <a:cs typeface="Roboto Bold"/>
                <a:sym typeface="Roboto Bold"/>
              </a:rPr>
              <a:t>KHAJURAHO</a:t>
            </a:r>
          </a:p>
        </p:txBody>
      </p:sp>
      <p:sp>
        <p:nvSpPr>
          <p:cNvPr id="21" name="TextBox 21"/>
          <p:cNvSpPr txBox="1"/>
          <p:nvPr/>
        </p:nvSpPr>
        <p:spPr>
          <a:xfrm rot="-152929">
            <a:off x="9495761" y="8708055"/>
            <a:ext cx="1773737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>
                <a:solidFill>
                  <a:srgbClr val="E6D9C5"/>
                </a:solidFill>
                <a:latin typeface="Roboto"/>
                <a:ea typeface="Roboto"/>
                <a:cs typeface="Roboto"/>
                <a:sym typeface="Roboto"/>
              </a:rPr>
              <a:t>Madhya Pradesh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320622" y="4919394"/>
            <a:ext cx="3270402" cy="4514911"/>
          </a:xfrm>
          <a:custGeom>
            <a:avLst/>
            <a:gdLst/>
            <a:ahLst/>
            <a:cxnLst/>
            <a:rect l="l" t="t" r="r" b="b"/>
            <a:pathLst>
              <a:path w="3270402" h="4514911">
                <a:moveTo>
                  <a:pt x="0" y="0"/>
                </a:moveTo>
                <a:lnTo>
                  <a:pt x="3270402" y="0"/>
                </a:lnTo>
                <a:lnTo>
                  <a:pt x="3270402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528440" y="5138034"/>
            <a:ext cx="2843828" cy="4077631"/>
          </a:xfrm>
          <a:custGeom>
            <a:avLst/>
            <a:gdLst/>
            <a:ahLst/>
            <a:cxnLst/>
            <a:rect l="l" t="t" r="r" b="b"/>
            <a:pathLst>
              <a:path w="2843828" h="4077631">
                <a:moveTo>
                  <a:pt x="0" y="0"/>
                </a:moveTo>
                <a:lnTo>
                  <a:pt x="2843828" y="0"/>
                </a:lnTo>
                <a:lnTo>
                  <a:pt x="284382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528440" y="7925691"/>
            <a:ext cx="2843828" cy="1289974"/>
          </a:xfrm>
          <a:custGeom>
            <a:avLst/>
            <a:gdLst/>
            <a:ahLst/>
            <a:cxnLst/>
            <a:rect l="l" t="t" r="r" b="b"/>
            <a:pathLst>
              <a:path w="2843828" h="1289974">
                <a:moveTo>
                  <a:pt x="0" y="0"/>
                </a:moveTo>
                <a:lnTo>
                  <a:pt x="2843828" y="0"/>
                </a:lnTo>
                <a:lnTo>
                  <a:pt x="2843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 rot="79101">
            <a:off x="12293210" y="8195986"/>
            <a:ext cx="1322361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 b="1">
                <a:solidFill>
                  <a:srgbClr val="E6D9C5"/>
                </a:solidFill>
                <a:latin typeface="Roboto Bold"/>
                <a:ea typeface="Roboto Bold"/>
                <a:cs typeface="Roboto Bold"/>
                <a:sym typeface="Roboto Bold"/>
              </a:rPr>
              <a:t>TAJ MAHAL</a:t>
            </a:r>
          </a:p>
        </p:txBody>
      </p:sp>
      <p:sp>
        <p:nvSpPr>
          <p:cNvPr id="26" name="TextBox 26"/>
          <p:cNvSpPr txBox="1"/>
          <p:nvPr/>
        </p:nvSpPr>
        <p:spPr>
          <a:xfrm rot="79101">
            <a:off x="12229556" y="8527325"/>
            <a:ext cx="1449669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>
                <a:solidFill>
                  <a:srgbClr val="E6D9C5"/>
                </a:solidFill>
                <a:latin typeface="Roboto"/>
                <a:ea typeface="Roboto"/>
                <a:cs typeface="Roboto"/>
                <a:sym typeface="Roboto"/>
              </a:rPr>
              <a:t>Uttar Pradesh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142574" y="5138034"/>
            <a:ext cx="3281340" cy="4514911"/>
          </a:xfrm>
          <a:custGeom>
            <a:avLst/>
            <a:gdLst/>
            <a:ahLst/>
            <a:cxnLst/>
            <a:rect l="l" t="t" r="r" b="b"/>
            <a:pathLst>
              <a:path w="3281340" h="4514911">
                <a:moveTo>
                  <a:pt x="0" y="0"/>
                </a:moveTo>
                <a:lnTo>
                  <a:pt x="3281340" y="0"/>
                </a:lnTo>
                <a:lnTo>
                  <a:pt x="328134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142574" y="5564382"/>
            <a:ext cx="2843828" cy="3869923"/>
          </a:xfrm>
          <a:custGeom>
            <a:avLst/>
            <a:gdLst/>
            <a:ahLst/>
            <a:cxnLst/>
            <a:rect l="l" t="t" r="r" b="b"/>
            <a:pathLst>
              <a:path w="2843828" h="3869923">
                <a:moveTo>
                  <a:pt x="0" y="0"/>
                </a:moveTo>
                <a:lnTo>
                  <a:pt x="2843828" y="0"/>
                </a:lnTo>
                <a:lnTo>
                  <a:pt x="284382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142574" y="7925691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 rot="163476">
            <a:off x="15053619" y="8768298"/>
            <a:ext cx="1052207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>
                <a:solidFill>
                  <a:srgbClr val="60161A"/>
                </a:solidFill>
                <a:latin typeface="Roboto"/>
                <a:ea typeface="Roboto"/>
                <a:cs typeface="Roboto"/>
                <a:sym typeface="Roboto"/>
              </a:rPr>
              <a:t>Rajasthan</a:t>
            </a:r>
          </a:p>
        </p:txBody>
      </p:sp>
      <p:sp>
        <p:nvSpPr>
          <p:cNvPr id="31" name="Freeform 3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 rot="163476">
            <a:off x="14790712" y="8436960"/>
            <a:ext cx="1578021" cy="2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784" b="1">
                <a:solidFill>
                  <a:srgbClr val="60161A"/>
                </a:solidFill>
                <a:latin typeface="Roboto Bold"/>
                <a:ea typeface="Roboto Bold"/>
                <a:cs typeface="Roboto Bold"/>
                <a:sym typeface="Roboto Bold"/>
              </a:rPr>
              <a:t>HAWA MAHAL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2153601"/>
          </a:xfrm>
          <a:custGeom>
            <a:avLst/>
            <a:gdLst/>
            <a:ahLst/>
            <a:cxnLst/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4828" y="718603"/>
            <a:ext cx="4921072" cy="105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6800" b="1" dirty="0">
                <a:solidFill>
                  <a:srgbClr val="691B20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2842" y="2350377"/>
            <a:ext cx="5239206" cy="3017228"/>
          </a:xfrm>
          <a:custGeom>
            <a:avLst/>
            <a:gdLst/>
            <a:ahLst/>
            <a:cxnLst/>
            <a:rect l="l" t="t" r="r" b="b"/>
            <a:pathLst>
              <a:path w="5239206" h="3017228">
                <a:moveTo>
                  <a:pt x="0" y="0"/>
                </a:moveTo>
                <a:lnTo>
                  <a:pt x="5239206" y="0"/>
                </a:lnTo>
                <a:lnTo>
                  <a:pt x="5239206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21952" y="256901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85503" y="4226802"/>
            <a:ext cx="4176544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promote awareness of india's</a:t>
            </a:r>
          </a:p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rich cultural and historical heritage</a:t>
            </a:r>
          </a:p>
        </p:txBody>
      </p:sp>
      <p:sp>
        <p:nvSpPr>
          <p:cNvPr id="9" name="Freeform 9"/>
          <p:cNvSpPr/>
          <p:nvPr/>
        </p:nvSpPr>
        <p:spPr>
          <a:xfrm>
            <a:off x="6529866" y="2350377"/>
            <a:ext cx="5228268" cy="3017228"/>
          </a:xfrm>
          <a:custGeom>
            <a:avLst/>
            <a:gdLst/>
            <a:ahLst/>
            <a:cxnLst/>
            <a:rect l="l" t="t" r="r" b="b"/>
            <a:pathLst>
              <a:path w="5228268" h="3017228">
                <a:moveTo>
                  <a:pt x="0" y="0"/>
                </a:moveTo>
                <a:lnTo>
                  <a:pt x="5228268" y="0"/>
                </a:lnTo>
                <a:lnTo>
                  <a:pt x="5228268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68976" y="256901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069255" y="4226802"/>
            <a:ext cx="3992327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provide an interactive platform to explore heritage destinations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747196" y="2350377"/>
            <a:ext cx="5239206" cy="3017228"/>
          </a:xfrm>
          <a:custGeom>
            <a:avLst/>
            <a:gdLst/>
            <a:ahLst/>
            <a:cxnLst/>
            <a:rect l="l" t="t" r="r" b="b"/>
            <a:pathLst>
              <a:path w="5239206" h="3017228">
                <a:moveTo>
                  <a:pt x="0" y="0"/>
                </a:moveTo>
                <a:lnTo>
                  <a:pt x="5239206" y="0"/>
                </a:lnTo>
                <a:lnTo>
                  <a:pt x="5239206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497244" y="256901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901001" y="4226802"/>
            <a:ext cx="2920695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make learning enjoyable through gamification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82842" y="5356674"/>
            <a:ext cx="5239206" cy="3224936"/>
          </a:xfrm>
          <a:custGeom>
            <a:avLst/>
            <a:gdLst/>
            <a:ahLst/>
            <a:cxnLst/>
            <a:rect l="l" t="t" r="r" b="b"/>
            <a:pathLst>
              <a:path w="5239206" h="3224936">
                <a:moveTo>
                  <a:pt x="0" y="0"/>
                </a:moveTo>
                <a:lnTo>
                  <a:pt x="5239206" y="0"/>
                </a:lnTo>
                <a:lnTo>
                  <a:pt x="5239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821952" y="5783021"/>
            <a:ext cx="1750048" cy="1508614"/>
          </a:xfrm>
          <a:custGeom>
            <a:avLst/>
            <a:gdLst/>
            <a:ahLst/>
            <a:cxnLst/>
            <a:rect l="l" t="t" r="r" b="b"/>
            <a:pathLst>
              <a:path w="1750048" h="1508614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97370" y="7389579"/>
            <a:ext cx="3534059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encourage users to complete destination-based challenges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529866" y="5356674"/>
            <a:ext cx="5228268" cy="3224936"/>
          </a:xfrm>
          <a:custGeom>
            <a:avLst/>
            <a:gdLst/>
            <a:ahLst/>
            <a:cxnLst/>
            <a:rect l="l" t="t" r="r" b="b"/>
            <a:pathLst>
              <a:path w="5228268" h="3224936">
                <a:moveTo>
                  <a:pt x="0" y="0"/>
                </a:moveTo>
                <a:lnTo>
                  <a:pt x="5228268" y="0"/>
                </a:lnTo>
                <a:lnTo>
                  <a:pt x="522826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268976" y="5783021"/>
            <a:ext cx="1750048" cy="1508614"/>
          </a:xfrm>
          <a:custGeom>
            <a:avLst/>
            <a:gdLst/>
            <a:ahLst/>
            <a:cxnLst/>
            <a:rect l="l" t="t" r="r" b="b"/>
            <a:pathLst>
              <a:path w="1750048" h="1508614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122985" y="7389578"/>
            <a:ext cx="3944875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track user achievements, scores, and learning progress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747196" y="5356674"/>
            <a:ext cx="5239206" cy="3224936"/>
          </a:xfrm>
          <a:custGeom>
            <a:avLst/>
            <a:gdLst/>
            <a:ahLst/>
            <a:cxnLst/>
            <a:rect l="l" t="t" r="r" b="b"/>
            <a:pathLst>
              <a:path w="5239206" h="3224936">
                <a:moveTo>
                  <a:pt x="0" y="0"/>
                </a:moveTo>
                <a:lnTo>
                  <a:pt x="5239206" y="0"/>
                </a:lnTo>
                <a:lnTo>
                  <a:pt x="5239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497244" y="5783021"/>
            <a:ext cx="1750048" cy="1508614"/>
          </a:xfrm>
          <a:custGeom>
            <a:avLst/>
            <a:gdLst/>
            <a:ahLst/>
            <a:cxnLst/>
            <a:rect l="l" t="t" r="r" b="b"/>
            <a:pathLst>
              <a:path w="1750048" h="1508614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441973" y="7389579"/>
            <a:ext cx="3831250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>
                <a:solidFill>
                  <a:srgbClr val="202F42"/>
                </a:solidFill>
                <a:latin typeface="Roboto Bold"/>
                <a:ea typeface="Roboto Bold"/>
                <a:cs typeface="Roboto Bold"/>
                <a:sym typeface="Roboto Bold"/>
              </a:rPr>
              <a:t>combine education, exploration, and technology in one platform</a:t>
            </a:r>
          </a:p>
        </p:txBody>
      </p:sp>
      <p:sp>
        <p:nvSpPr>
          <p:cNvPr id="24" name="Freeform 24"/>
          <p:cNvSpPr/>
          <p:nvPr/>
        </p:nvSpPr>
        <p:spPr>
          <a:xfrm>
            <a:off x="0" y="8352038"/>
            <a:ext cx="3489158" cy="1300906"/>
          </a:xfrm>
          <a:custGeom>
            <a:avLst/>
            <a:gdLst/>
            <a:ahLst/>
            <a:cxnLst/>
            <a:rect l="l" t="t" r="r" b="b"/>
            <a:pathLst>
              <a:path w="3489158" h="1300906">
                <a:moveTo>
                  <a:pt x="0" y="0"/>
                </a:moveTo>
                <a:lnTo>
                  <a:pt x="3489158" y="0"/>
                </a:lnTo>
                <a:lnTo>
                  <a:pt x="348915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478220" y="8352038"/>
            <a:ext cx="3926670" cy="1300906"/>
          </a:xfrm>
          <a:custGeom>
            <a:avLst/>
            <a:gdLst/>
            <a:ahLst/>
            <a:cxnLst/>
            <a:rect l="l" t="t" r="r" b="b"/>
            <a:pathLst>
              <a:path w="3926670" h="1300906">
                <a:moveTo>
                  <a:pt x="0" y="0"/>
                </a:moveTo>
                <a:lnTo>
                  <a:pt x="3926670" y="0"/>
                </a:lnTo>
                <a:lnTo>
                  <a:pt x="392667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175196" y="8352038"/>
            <a:ext cx="3937608" cy="1300906"/>
          </a:xfrm>
          <a:custGeom>
            <a:avLst/>
            <a:gdLst/>
            <a:ahLst/>
            <a:cxnLst/>
            <a:rect l="l" t="t" r="r" b="b"/>
            <a:pathLst>
              <a:path w="3937608" h="1300906">
                <a:moveTo>
                  <a:pt x="0" y="0"/>
                </a:moveTo>
                <a:lnTo>
                  <a:pt x="3937608" y="0"/>
                </a:lnTo>
                <a:lnTo>
                  <a:pt x="393760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83110" y="8352038"/>
            <a:ext cx="4145426" cy="1300906"/>
          </a:xfrm>
          <a:custGeom>
            <a:avLst/>
            <a:gdLst/>
            <a:ahLst/>
            <a:cxnLst/>
            <a:rect l="l" t="t" r="r" b="b"/>
            <a:pathLst>
              <a:path w="4145426" h="1300906">
                <a:moveTo>
                  <a:pt x="0" y="0"/>
                </a:moveTo>
                <a:lnTo>
                  <a:pt x="4145426" y="0"/>
                </a:lnTo>
                <a:lnTo>
                  <a:pt x="414542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798842" y="8352038"/>
            <a:ext cx="3489158" cy="1300906"/>
          </a:xfrm>
          <a:custGeom>
            <a:avLst/>
            <a:gdLst/>
            <a:ahLst/>
            <a:cxnLst/>
            <a:rect l="l" t="t" r="r" b="b"/>
            <a:pathLst>
              <a:path w="3489158" h="1300906">
                <a:moveTo>
                  <a:pt x="0" y="0"/>
                </a:moveTo>
                <a:lnTo>
                  <a:pt x="3489158" y="0"/>
                </a:lnTo>
                <a:lnTo>
                  <a:pt x="348915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0" y="9423373"/>
            <a:ext cx="6322048" cy="863627"/>
          </a:xfrm>
          <a:custGeom>
            <a:avLst/>
            <a:gdLst/>
            <a:ahLst/>
            <a:cxnLst/>
            <a:rect l="l" t="t" r="r" b="b"/>
            <a:pathLst>
              <a:path w="6322048" h="863627">
                <a:moveTo>
                  <a:pt x="0" y="0"/>
                </a:moveTo>
                <a:lnTo>
                  <a:pt x="6322048" y="0"/>
                </a:lnTo>
                <a:lnTo>
                  <a:pt x="6322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311110" y="9423373"/>
            <a:ext cx="5665780" cy="863627"/>
          </a:xfrm>
          <a:custGeom>
            <a:avLst/>
            <a:gdLst/>
            <a:ahLst/>
            <a:cxnLst/>
            <a:rect l="l" t="t" r="r" b="b"/>
            <a:pathLst>
              <a:path w="5665780" h="863627">
                <a:moveTo>
                  <a:pt x="0" y="0"/>
                </a:moveTo>
                <a:lnTo>
                  <a:pt x="5665780" y="0"/>
                </a:lnTo>
                <a:lnTo>
                  <a:pt x="5665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747196" y="9423373"/>
            <a:ext cx="6540804" cy="863627"/>
          </a:xfrm>
          <a:custGeom>
            <a:avLst/>
            <a:gdLst/>
            <a:ahLst/>
            <a:cxnLst/>
            <a:rect l="l" t="t" r="r" b="b"/>
            <a:pathLst>
              <a:path w="6540804" h="863627">
                <a:moveTo>
                  <a:pt x="0" y="0"/>
                </a:moveTo>
                <a:lnTo>
                  <a:pt x="6540804" y="0"/>
                </a:lnTo>
                <a:lnTo>
                  <a:pt x="6540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2153601"/>
          </a:xfrm>
          <a:custGeom>
            <a:avLst/>
            <a:gdLst/>
            <a:ahLst/>
            <a:cxnLst/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0109" y="661421"/>
            <a:ext cx="7714061" cy="105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2"/>
              </a:lnSpc>
            </a:pPr>
            <a:r>
              <a:rPr lang="en-US" sz="6800" b="1" dirty="0">
                <a:solidFill>
                  <a:srgbClr val="681D1D"/>
                </a:solidFill>
                <a:latin typeface="Roboto Bold"/>
                <a:ea typeface="Roboto Bold"/>
                <a:cs typeface="Roboto Bold"/>
                <a:sym typeface="Roboto Bold"/>
              </a:rPr>
              <a:t>Technologies Used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70539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1598" y="2142670"/>
            <a:ext cx="4582938" cy="5367606"/>
          </a:xfrm>
          <a:custGeom>
            <a:avLst/>
            <a:gdLst/>
            <a:ahLst/>
            <a:cxnLst/>
            <a:rect l="l" t="t" r="r" b="b"/>
            <a:pathLst>
              <a:path w="4582938" h="5367606">
                <a:moveTo>
                  <a:pt x="0" y="0"/>
                </a:moveTo>
                <a:lnTo>
                  <a:pt x="4582938" y="0"/>
                </a:lnTo>
                <a:lnTo>
                  <a:pt x="458293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93813" y="2387882"/>
            <a:ext cx="1321119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>
                <a:solidFill>
                  <a:srgbClr val="F0E5D9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id="8" name="Freeform 8"/>
          <p:cNvSpPr/>
          <p:nvPr/>
        </p:nvSpPr>
        <p:spPr>
          <a:xfrm>
            <a:off x="1739110" y="2995365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39110" y="3214004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30664" y="3080680"/>
            <a:ext cx="897618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React.js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14302" y="3436604"/>
            <a:ext cx="2533822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Building reusable and interactive UI components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39110" y="4066699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06505" y="4466278"/>
            <a:ext cx="617900" cy="58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849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25369" y="4551107"/>
            <a:ext cx="1427116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Structured and</a:t>
            </a:r>
          </a:p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type-safe code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39110" y="5138034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39110" y="5356674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822268" y="5635487"/>
            <a:ext cx="1737303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Fast development</a:t>
            </a:r>
          </a:p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and build tool</a:t>
            </a:r>
          </a:p>
        </p:txBody>
      </p:sp>
      <p:sp>
        <p:nvSpPr>
          <p:cNvPr id="18" name="Freeform 18"/>
          <p:cNvSpPr/>
          <p:nvPr/>
        </p:nvSpPr>
        <p:spPr>
          <a:xfrm>
            <a:off x="1739110" y="6209369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39110" y="6428009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817915" y="6689746"/>
            <a:ext cx="2172513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Styling and responsive layouts</a:t>
            </a:r>
          </a:p>
        </p:txBody>
      </p:sp>
      <p:sp>
        <p:nvSpPr>
          <p:cNvPr id="21" name="Freeform 21"/>
          <p:cNvSpPr/>
          <p:nvPr/>
        </p:nvSpPr>
        <p:spPr>
          <a:xfrm>
            <a:off x="5654842" y="2776725"/>
            <a:ext cx="2187560" cy="874559"/>
          </a:xfrm>
          <a:custGeom>
            <a:avLst/>
            <a:gdLst/>
            <a:ahLst/>
            <a:cxnLst/>
            <a:rect l="l" t="t" r="r" b="b"/>
            <a:pathLst>
              <a:path w="2187560" h="874559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175196" y="2569017"/>
            <a:ext cx="4582938" cy="4503979"/>
          </a:xfrm>
          <a:custGeom>
            <a:avLst/>
            <a:gdLst/>
            <a:ahLst/>
            <a:cxnLst/>
            <a:rect l="l" t="t" r="r" b="b"/>
            <a:pathLst>
              <a:path w="4582938" h="4503979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095149" y="3713235"/>
            <a:ext cx="2587227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HERITAGE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47526" y="4270487"/>
            <a:ext cx="2482473" cy="91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3"/>
              </a:lnSpc>
            </a:pPr>
            <a:r>
              <a:rPr lang="en-US" sz="6068" b="1">
                <a:solidFill>
                  <a:srgbClr val="E99F23"/>
                </a:solidFill>
                <a:latin typeface="Roboto Bold"/>
                <a:ea typeface="Roboto Bold"/>
                <a:cs typeface="Roboto Bold"/>
                <a:sym typeface="Roboto Bold"/>
              </a:rPr>
              <a:t>QUEST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44161" y="5230210"/>
            <a:ext cx="2489204" cy="8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>
                <a:solidFill>
                  <a:srgbClr val="F0E5D9"/>
                </a:solidFill>
                <a:latin typeface="Roboto"/>
                <a:ea typeface="Roboto"/>
                <a:cs typeface="Roboto"/>
                <a:sym typeface="Roboto"/>
              </a:rPr>
              <a:t>Explore India's Heritage Through Interactive Adventures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883110" y="2776725"/>
            <a:ext cx="1750048" cy="874559"/>
          </a:xfrm>
          <a:custGeom>
            <a:avLst/>
            <a:gdLst/>
            <a:ahLst/>
            <a:cxnLst/>
            <a:rect l="l" t="t" r="r" b="b"/>
            <a:pathLst>
              <a:path w="1750048" h="874559">
                <a:moveTo>
                  <a:pt x="0" y="0"/>
                </a:moveTo>
                <a:lnTo>
                  <a:pt x="1750048" y="0"/>
                </a:lnTo>
                <a:lnTo>
                  <a:pt x="1750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403464" y="2142670"/>
            <a:ext cx="4364182" cy="3651284"/>
          </a:xfrm>
          <a:custGeom>
            <a:avLst/>
            <a:gdLst/>
            <a:ahLst/>
            <a:cxnLst/>
            <a:rect l="l" t="t" r="r" b="b"/>
            <a:pathLst>
              <a:path w="4364182" h="3651284">
                <a:moveTo>
                  <a:pt x="0" y="0"/>
                </a:moveTo>
                <a:lnTo>
                  <a:pt x="4364182" y="0"/>
                </a:lnTo>
                <a:lnTo>
                  <a:pt x="4364182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904109" y="2448125"/>
            <a:ext cx="1165760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MAPPING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622220" y="299536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840976" y="321400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834927" y="3511909"/>
            <a:ext cx="1501799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Interactive map</a:t>
            </a:r>
          </a:p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functionality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12622220" y="4285339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931336" y="4541582"/>
            <a:ext cx="590992" cy="58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849" b="1">
                <a:solidFill>
                  <a:srgbClr val="699F4B"/>
                </a:solidFill>
                <a:latin typeface="Roboto Bold"/>
                <a:ea typeface="Roboto Bold"/>
                <a:cs typeface="Roboto Bold"/>
                <a:sym typeface="Roboto Bold"/>
              </a:rPr>
              <a:t>RL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29304" y="4822202"/>
            <a:ext cx="2064154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Integrating maps into</a:t>
            </a:r>
          </a:p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React components</a:t>
            </a:r>
          </a:p>
        </p:txBody>
      </p:sp>
      <p:sp>
        <p:nvSpPr>
          <p:cNvPr id="35" name="Freeform 35"/>
          <p:cNvSpPr/>
          <p:nvPr/>
        </p:nvSpPr>
        <p:spPr>
          <a:xfrm>
            <a:off x="6092354" y="6209369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436086" y="7499343"/>
            <a:ext cx="5020450" cy="2153601"/>
          </a:xfrm>
          <a:custGeom>
            <a:avLst/>
            <a:gdLst/>
            <a:ahLst/>
            <a:cxnLst/>
            <a:rect l="l" t="t" r="r" b="b"/>
            <a:pathLst>
              <a:path w="5020450" h="2153601">
                <a:moveTo>
                  <a:pt x="0" y="0"/>
                </a:moveTo>
                <a:lnTo>
                  <a:pt x="5020450" y="0"/>
                </a:lnTo>
                <a:lnTo>
                  <a:pt x="502045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6363515" y="7704358"/>
            <a:ext cx="3134775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BACKEND AND DATABASE</a:t>
            </a:r>
          </a:p>
        </p:txBody>
      </p:sp>
      <p:sp>
        <p:nvSpPr>
          <p:cNvPr id="38" name="Freeform 38"/>
          <p:cNvSpPr/>
          <p:nvPr/>
        </p:nvSpPr>
        <p:spPr>
          <a:xfrm>
            <a:off x="5873598" y="8352038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878560" y="8707899"/>
            <a:ext cx="3301779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Authentication, database services, user progress storage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101866" y="5783021"/>
            <a:ext cx="875024" cy="1289974"/>
          </a:xfrm>
          <a:custGeom>
            <a:avLst/>
            <a:gdLst/>
            <a:ahLst/>
            <a:cxnLst/>
            <a:rect l="l" t="t" r="r" b="b"/>
            <a:pathLst>
              <a:path w="875024" h="1289974">
                <a:moveTo>
                  <a:pt x="0" y="0"/>
                </a:moveTo>
                <a:lnTo>
                  <a:pt x="875024" y="0"/>
                </a:lnTo>
                <a:lnTo>
                  <a:pt x="87502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747196" y="6428009"/>
            <a:ext cx="5239206" cy="3224936"/>
          </a:xfrm>
          <a:custGeom>
            <a:avLst/>
            <a:gdLst/>
            <a:ahLst/>
            <a:cxnLst/>
            <a:rect l="l" t="t" r="r" b="b"/>
            <a:pathLst>
              <a:path w="5239206" h="3224936">
                <a:moveTo>
                  <a:pt x="0" y="0"/>
                </a:moveTo>
                <a:lnTo>
                  <a:pt x="5239206" y="0"/>
                </a:lnTo>
                <a:lnTo>
                  <a:pt x="5239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1996649" y="6680221"/>
            <a:ext cx="4630280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>
                <a:solidFill>
                  <a:srgbClr val="F0E5D9"/>
                </a:solidFill>
                <a:latin typeface="Roboto Bold"/>
                <a:ea typeface="Roboto Bold"/>
                <a:cs typeface="Roboto Bold"/>
                <a:sym typeface="Roboto Bold"/>
              </a:rPr>
              <a:t>DEPLOYMENT AND VERSION CONTROL</a:t>
            </a:r>
          </a:p>
        </p:txBody>
      </p:sp>
      <p:sp>
        <p:nvSpPr>
          <p:cNvPr id="43" name="Freeform 43"/>
          <p:cNvSpPr/>
          <p:nvPr/>
        </p:nvSpPr>
        <p:spPr>
          <a:xfrm>
            <a:off x="11965952" y="7280704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184708" y="728070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3236867" y="7728944"/>
            <a:ext cx="237189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Hosting and deployment</a:t>
            </a:r>
          </a:p>
        </p:txBody>
      </p:sp>
      <p:sp>
        <p:nvSpPr>
          <p:cNvPr id="46" name="Freeform 46"/>
          <p:cNvSpPr/>
          <p:nvPr/>
        </p:nvSpPr>
        <p:spPr>
          <a:xfrm>
            <a:off x="11965952" y="8352038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2184708" y="8352038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3244394" y="8412218"/>
            <a:ext cx="1619215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Git and GitHub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5002" y="8753081"/>
            <a:ext cx="2558393" cy="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Source code management and collaboration</a:t>
            </a:r>
          </a:p>
        </p:txBody>
      </p:sp>
      <p:sp>
        <p:nvSpPr>
          <p:cNvPr id="50" name="Freeform 50"/>
          <p:cNvSpPr/>
          <p:nvPr/>
        </p:nvSpPr>
        <p:spPr>
          <a:xfrm>
            <a:off x="0" y="8352038"/>
            <a:ext cx="2614134" cy="1508614"/>
          </a:xfrm>
          <a:custGeom>
            <a:avLst/>
            <a:gdLst/>
            <a:ahLst/>
            <a:cxnLst/>
            <a:rect l="l" t="t" r="r" b="b"/>
            <a:pathLst>
              <a:path w="2614134" h="1508614">
                <a:moveTo>
                  <a:pt x="0" y="0"/>
                </a:moveTo>
                <a:lnTo>
                  <a:pt x="2614134" y="0"/>
                </a:lnTo>
                <a:lnTo>
                  <a:pt x="261413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2603196" y="8352038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5217330" y="8352038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7831464" y="8352038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445598" y="8352038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0" y="9642013"/>
            <a:ext cx="2614134" cy="644987"/>
          </a:xfrm>
          <a:custGeom>
            <a:avLst/>
            <a:gdLst/>
            <a:ahLst/>
            <a:cxnLst/>
            <a:rect l="l" t="t" r="r" b="b"/>
            <a:pathLst>
              <a:path w="2614134" h="644987">
                <a:moveTo>
                  <a:pt x="0" y="0"/>
                </a:moveTo>
                <a:lnTo>
                  <a:pt x="2614134" y="0"/>
                </a:lnTo>
                <a:lnTo>
                  <a:pt x="261413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2603196" y="9642013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5217330" y="9642013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7831464" y="9642013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0445598" y="9642013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3059732" y="9642013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5673866" y="9642013"/>
            <a:ext cx="2614134" cy="644987"/>
          </a:xfrm>
          <a:custGeom>
            <a:avLst/>
            <a:gdLst/>
            <a:ahLst/>
            <a:cxnLst/>
            <a:rect l="l" t="t" r="r" b="b"/>
            <a:pathLst>
              <a:path w="2614134" h="644987">
                <a:moveTo>
                  <a:pt x="0" y="0"/>
                </a:moveTo>
                <a:lnTo>
                  <a:pt x="2614134" y="0"/>
                </a:lnTo>
                <a:lnTo>
                  <a:pt x="261413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2827536" y="4195183"/>
            <a:ext cx="1210474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TypeScript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835280" y="4466278"/>
            <a:ext cx="1466504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React Leaflet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00567" y="8351975"/>
            <a:ext cx="1101109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Supabase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842256" y="3171045"/>
            <a:ext cx="768972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Leaflet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253448" y="7388081"/>
            <a:ext cx="713785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Vercel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835209" y="5294624"/>
            <a:ext cx="443139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Vite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834935" y="6348883"/>
            <a:ext cx="470609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22140"/>
                </a:solidFill>
                <a:latin typeface="Roboto Bold"/>
                <a:ea typeface="Roboto Bold"/>
                <a:cs typeface="Roboto Bold"/>
                <a:sym typeface="Roboto Bold"/>
              </a:rPr>
              <a:t>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9110" y="0"/>
            <a:ext cx="1312536" cy="1934962"/>
          </a:xfrm>
          <a:custGeom>
            <a:avLst/>
            <a:gdLst/>
            <a:ahLst/>
            <a:cxnLst/>
            <a:rect l="l" t="t" r="r" b="b"/>
            <a:pathLst>
              <a:path w="1312536" h="1934962">
                <a:moveTo>
                  <a:pt x="0" y="0"/>
                </a:moveTo>
                <a:lnTo>
                  <a:pt x="1312536" y="0"/>
                </a:lnTo>
                <a:lnTo>
                  <a:pt x="131253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3851" y="631299"/>
            <a:ext cx="9660974" cy="103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6800" b="1" dirty="0">
                <a:solidFill>
                  <a:srgbClr val="721B1B"/>
                </a:solidFill>
                <a:latin typeface="Roboto Bold"/>
                <a:ea typeface="Roboto Bold"/>
                <a:cs typeface="Roboto Bold"/>
                <a:sym typeface="Roboto Bold"/>
              </a:rPr>
              <a:t>Frontend and Data Logic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170539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7220" y="2137383"/>
            <a:ext cx="12003047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How HeritageQuest delivers interactive exploration and gamified learning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2776725"/>
            <a:ext cx="3707914" cy="4733550"/>
          </a:xfrm>
          <a:custGeom>
            <a:avLst/>
            <a:gdLst/>
            <a:ahLst/>
            <a:cxnLst/>
            <a:rect l="l" t="t" r="r" b="b"/>
            <a:pathLst>
              <a:path w="3707914" h="4733550">
                <a:moveTo>
                  <a:pt x="0" y="0"/>
                </a:moveTo>
                <a:lnTo>
                  <a:pt x="3707914" y="0"/>
                </a:lnTo>
                <a:lnTo>
                  <a:pt x="3707914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086" y="2776725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2496" y="3206702"/>
            <a:ext cx="2840866" cy="32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1. DESTINATION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2512" y="4138608"/>
            <a:ext cx="2730791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Structured TypeScript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files for each destination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3632" y="5387079"/>
            <a:ext cx="2618856" cy="106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Includes name, city, state, image, difficulty, missions and more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01598" y="4919394"/>
            <a:ext cx="2843828" cy="448211"/>
          </a:xfrm>
          <a:custGeom>
            <a:avLst/>
            <a:gdLst/>
            <a:ahLst/>
            <a:cxnLst/>
            <a:rect l="l" t="t" r="r" b="b"/>
            <a:pathLst>
              <a:path w="2843828" h="448211">
                <a:moveTo>
                  <a:pt x="0" y="0"/>
                </a:moveTo>
                <a:lnTo>
                  <a:pt x="2843828" y="0"/>
                </a:lnTo>
                <a:lnTo>
                  <a:pt x="284382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572000" y="3214004"/>
            <a:ext cx="656268" cy="644987"/>
          </a:xfrm>
          <a:custGeom>
            <a:avLst/>
            <a:gdLst/>
            <a:ahLst/>
            <a:cxnLst/>
            <a:rect l="l" t="t" r="r" b="b"/>
            <a:pathLst>
              <a:path w="656268" h="644987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98574" y="2776725"/>
            <a:ext cx="3718852" cy="4733550"/>
          </a:xfrm>
          <a:custGeom>
            <a:avLst/>
            <a:gdLst/>
            <a:ahLst/>
            <a:cxnLst/>
            <a:rect l="l" t="t" r="r" b="b"/>
            <a:pathLst>
              <a:path w="3718852" h="4733550">
                <a:moveTo>
                  <a:pt x="0" y="0"/>
                </a:moveTo>
                <a:lnTo>
                  <a:pt x="3718852" y="0"/>
                </a:lnTo>
                <a:lnTo>
                  <a:pt x="3718852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998574" y="2776725"/>
            <a:ext cx="3718852" cy="1082267"/>
          </a:xfrm>
          <a:custGeom>
            <a:avLst/>
            <a:gdLst/>
            <a:ahLst/>
            <a:cxnLst/>
            <a:rect l="l" t="t" r="r" b="b"/>
            <a:pathLst>
              <a:path w="3718852" h="1082267">
                <a:moveTo>
                  <a:pt x="0" y="0"/>
                </a:moveTo>
                <a:lnTo>
                  <a:pt x="3718852" y="0"/>
                </a:lnTo>
                <a:lnTo>
                  <a:pt x="3718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352275" y="3206702"/>
            <a:ext cx="3079494" cy="32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2. REACT COMPONENTS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11400" y="4076785"/>
            <a:ext cx="2145926" cy="106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React components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create the user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interface</a:t>
            </a:r>
          </a:p>
        </p:txBody>
      </p:sp>
      <p:sp>
        <p:nvSpPr>
          <p:cNvPr id="19" name="Freeform 19"/>
          <p:cNvSpPr/>
          <p:nvPr/>
        </p:nvSpPr>
        <p:spPr>
          <a:xfrm>
            <a:off x="5654842" y="5356674"/>
            <a:ext cx="2625072" cy="218640"/>
          </a:xfrm>
          <a:custGeom>
            <a:avLst/>
            <a:gdLst/>
            <a:ahLst/>
            <a:cxnLst/>
            <a:rect l="l" t="t" r="r" b="b"/>
            <a:pathLst>
              <a:path w="2625072" h="218640">
                <a:moveTo>
                  <a:pt x="0" y="0"/>
                </a:moveTo>
                <a:lnTo>
                  <a:pt x="2625072" y="0"/>
                </a:lnTo>
                <a:lnTo>
                  <a:pt x="2625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707939" y="5628052"/>
            <a:ext cx="2492003" cy="106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Navigation through Home, Explore and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My Progress sections</a:t>
            </a:r>
          </a:p>
        </p:txBody>
      </p:sp>
      <p:sp>
        <p:nvSpPr>
          <p:cNvPr id="21" name="Freeform 21"/>
          <p:cNvSpPr/>
          <p:nvPr/>
        </p:nvSpPr>
        <p:spPr>
          <a:xfrm>
            <a:off x="8706488" y="3214004"/>
            <a:ext cx="656268" cy="644987"/>
          </a:xfrm>
          <a:custGeom>
            <a:avLst/>
            <a:gdLst/>
            <a:ahLst/>
            <a:cxnLst/>
            <a:rect l="l" t="t" r="r" b="b"/>
            <a:pathLst>
              <a:path w="656268" h="644987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351818" y="2776725"/>
            <a:ext cx="3718852" cy="4733550"/>
          </a:xfrm>
          <a:custGeom>
            <a:avLst/>
            <a:gdLst/>
            <a:ahLst/>
            <a:cxnLst/>
            <a:rect l="l" t="t" r="r" b="b"/>
            <a:pathLst>
              <a:path w="3718852" h="4733550">
                <a:moveTo>
                  <a:pt x="0" y="0"/>
                </a:moveTo>
                <a:lnTo>
                  <a:pt x="3718852" y="0"/>
                </a:lnTo>
                <a:lnTo>
                  <a:pt x="3718852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351818" y="2776725"/>
            <a:ext cx="3718852" cy="1082267"/>
          </a:xfrm>
          <a:custGeom>
            <a:avLst/>
            <a:gdLst/>
            <a:ahLst/>
            <a:cxnLst/>
            <a:rect l="l" t="t" r="r" b="b"/>
            <a:pathLst>
              <a:path w="3718852" h="1082267">
                <a:moveTo>
                  <a:pt x="0" y="0"/>
                </a:moveTo>
                <a:lnTo>
                  <a:pt x="3718852" y="0"/>
                </a:lnTo>
                <a:lnTo>
                  <a:pt x="3718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797085" y="3206702"/>
            <a:ext cx="2713081" cy="32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3. SEARCH &amp; FILTERS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98717" y="4076786"/>
            <a:ext cx="2039240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Search bar to find destinations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008086" y="491939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000587" y="5326835"/>
            <a:ext cx="1852259" cy="106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Filters by region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help refine and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discover places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059732" y="3214004"/>
            <a:ext cx="656268" cy="644987"/>
          </a:xfrm>
          <a:custGeom>
            <a:avLst/>
            <a:gdLst/>
            <a:ahLst/>
            <a:cxnLst/>
            <a:rect l="l" t="t" r="r" b="b"/>
            <a:pathLst>
              <a:path w="656268" h="644987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497244" y="2776725"/>
            <a:ext cx="3926670" cy="4733550"/>
          </a:xfrm>
          <a:custGeom>
            <a:avLst/>
            <a:gdLst/>
            <a:ahLst/>
            <a:cxnLst/>
            <a:rect l="l" t="t" r="r" b="b"/>
            <a:pathLst>
              <a:path w="3926670" h="4733550">
                <a:moveTo>
                  <a:pt x="0" y="0"/>
                </a:moveTo>
                <a:lnTo>
                  <a:pt x="3926670" y="0"/>
                </a:lnTo>
                <a:lnTo>
                  <a:pt x="3926670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497244" y="2776725"/>
            <a:ext cx="3926670" cy="1082267"/>
          </a:xfrm>
          <a:custGeom>
            <a:avLst/>
            <a:gdLst/>
            <a:ahLst/>
            <a:cxnLst/>
            <a:rect l="l" t="t" r="r" b="b"/>
            <a:pathLst>
              <a:path w="3926670" h="1082267">
                <a:moveTo>
                  <a:pt x="0" y="0"/>
                </a:moveTo>
                <a:lnTo>
                  <a:pt x="3926670" y="0"/>
                </a:lnTo>
                <a:lnTo>
                  <a:pt x="392667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906411" y="3025972"/>
            <a:ext cx="3009066" cy="62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4. DESTINATION CARDS</a:t>
            </a:r>
          </a:p>
          <a:p>
            <a:pPr algn="ctr">
              <a:lnSpc>
                <a:spcPts val="2457"/>
              </a:lnSpc>
            </a:pPr>
            <a:r>
              <a:rPr lang="en-US" sz="20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&amp; INTERACTIVE MAP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91055" y="4061725"/>
            <a:ext cx="2678113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Destination cards show key details and images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923818" y="4711687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4093679" y="5070801"/>
            <a:ext cx="2415692" cy="106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React Leaflet powers interactive maps</a:t>
            </a:r>
          </a:p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with markers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923818" y="6209369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4095218" y="6471459"/>
            <a:ext cx="2261824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Details reveal facts, missions and more</a:t>
            </a:r>
          </a:p>
        </p:txBody>
      </p:sp>
      <p:sp>
        <p:nvSpPr>
          <p:cNvPr id="37" name="Freeform 37"/>
          <p:cNvSpPr/>
          <p:nvPr/>
        </p:nvSpPr>
        <p:spPr>
          <a:xfrm>
            <a:off x="4353244" y="7925691"/>
            <a:ext cx="3489158" cy="218640"/>
          </a:xfrm>
          <a:custGeom>
            <a:avLst/>
            <a:gdLst/>
            <a:ahLst/>
            <a:cxnLst/>
            <a:rect l="l" t="t" r="r" b="b"/>
            <a:pathLst>
              <a:path w="3489158" h="218640">
                <a:moveTo>
                  <a:pt x="0" y="0"/>
                </a:moveTo>
                <a:lnTo>
                  <a:pt x="3489158" y="0"/>
                </a:lnTo>
                <a:lnTo>
                  <a:pt x="348915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8034344" y="7709894"/>
            <a:ext cx="2149482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GAME LOGIC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445598" y="7925691"/>
            <a:ext cx="3270402" cy="218640"/>
          </a:xfrm>
          <a:custGeom>
            <a:avLst/>
            <a:gdLst/>
            <a:ahLst/>
            <a:cxnLst/>
            <a:rect l="l" t="t" r="r" b="b"/>
            <a:pathLst>
              <a:path w="3270402" h="218640">
                <a:moveTo>
                  <a:pt x="0" y="0"/>
                </a:moveTo>
                <a:lnTo>
                  <a:pt x="3270402" y="0"/>
                </a:lnTo>
                <a:lnTo>
                  <a:pt x="327040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5668234" y="8243593"/>
            <a:ext cx="6613811" cy="71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 b="1">
                <a:solidFill>
                  <a:srgbClr val="0F2349"/>
                </a:solidFill>
                <a:latin typeface="Roboto Bold"/>
                <a:ea typeface="Roboto Bold"/>
                <a:cs typeface="Roboto Bold"/>
                <a:sym typeface="Roboto Bold"/>
              </a:rPr>
              <a:t>Manages challenges, scores, stars and level unlocking to create engaging adventure-based learning</a:t>
            </a:r>
          </a:p>
        </p:txBody>
      </p:sp>
      <p:sp>
        <p:nvSpPr>
          <p:cNvPr id="41" name="Freeform 41"/>
          <p:cNvSpPr/>
          <p:nvPr/>
        </p:nvSpPr>
        <p:spPr>
          <a:xfrm>
            <a:off x="0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739110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3478220" y="8570678"/>
            <a:ext cx="2187560" cy="1289974"/>
          </a:xfrm>
          <a:custGeom>
            <a:avLst/>
            <a:gdLst/>
            <a:ahLst/>
            <a:cxnLst/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5436086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7175196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9144000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0883110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2622220" y="8570678"/>
            <a:ext cx="2187560" cy="1289974"/>
          </a:xfrm>
          <a:custGeom>
            <a:avLst/>
            <a:gdLst/>
            <a:ahLst/>
            <a:cxnLst/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4580086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6319196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0" y="9642013"/>
            <a:ext cx="18288000" cy="644987"/>
          </a:xfrm>
          <a:custGeom>
            <a:avLst/>
            <a:gdLst/>
            <a:ahLst/>
            <a:cxnLst/>
            <a:rect l="l" t="t" r="r" b="b"/>
            <a:pathLst>
              <a:path w="18288000" h="644987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0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739110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3478220" y="9642013"/>
            <a:ext cx="2187560" cy="644987"/>
          </a:xfrm>
          <a:custGeom>
            <a:avLst/>
            <a:gdLst/>
            <a:ahLst/>
            <a:cxnLst/>
            <a:rect l="l" t="t" r="r" b="b"/>
            <a:pathLst>
              <a:path w="2187560" h="644987">
                <a:moveTo>
                  <a:pt x="0" y="0"/>
                </a:moveTo>
                <a:lnTo>
                  <a:pt x="2187560" y="0"/>
                </a:lnTo>
                <a:lnTo>
                  <a:pt x="218756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5436086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7175196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9144000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0883110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2622220" y="9642013"/>
            <a:ext cx="2187560" cy="644987"/>
          </a:xfrm>
          <a:custGeom>
            <a:avLst/>
            <a:gdLst/>
            <a:ahLst/>
            <a:cxnLst/>
            <a:rect l="l" t="t" r="r" b="b"/>
            <a:pathLst>
              <a:path w="2187560" h="644987">
                <a:moveTo>
                  <a:pt x="0" y="0"/>
                </a:moveTo>
                <a:lnTo>
                  <a:pt x="2187560" y="0"/>
                </a:lnTo>
                <a:lnTo>
                  <a:pt x="218756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4580086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6319196" y="9642013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56708" y="0"/>
            <a:ext cx="1531292" cy="1934962"/>
          </a:xfrm>
          <a:custGeom>
            <a:avLst/>
            <a:gdLst/>
            <a:ahLst/>
            <a:cxnLst/>
            <a:rect l="l" t="t" r="r" b="b"/>
            <a:pathLst>
              <a:path w="1531292" h="1934962">
                <a:moveTo>
                  <a:pt x="0" y="0"/>
                </a:moveTo>
                <a:lnTo>
                  <a:pt x="1531292" y="0"/>
                </a:lnTo>
                <a:lnTo>
                  <a:pt x="153129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0703" y="746250"/>
            <a:ext cx="990239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800" b="1" dirty="0">
                <a:solidFill>
                  <a:srgbClr val="6B2124"/>
                </a:solidFill>
                <a:latin typeface="Roboto Bold"/>
                <a:ea typeface="Roboto Bold"/>
                <a:cs typeface="Roboto Bold"/>
                <a:sym typeface="Roboto Bold"/>
              </a:rPr>
              <a:t>Backend and Deployment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2350377"/>
            <a:ext cx="6540804" cy="6438940"/>
          </a:xfrm>
          <a:custGeom>
            <a:avLst/>
            <a:gdLst/>
            <a:ahLst/>
            <a:cxnLst/>
            <a:rect l="l" t="t" r="r" b="b"/>
            <a:pathLst>
              <a:path w="6540804" h="6438940">
                <a:moveTo>
                  <a:pt x="0" y="0"/>
                </a:moveTo>
                <a:lnTo>
                  <a:pt x="6540804" y="0"/>
                </a:lnTo>
                <a:lnTo>
                  <a:pt x="654080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2350377"/>
            <a:ext cx="6322048" cy="874559"/>
          </a:xfrm>
          <a:custGeom>
            <a:avLst/>
            <a:gdLst/>
            <a:ahLst/>
            <a:cxnLst/>
            <a:rect l="l" t="t" r="r" b="b"/>
            <a:pathLst>
              <a:path w="6322048" h="874559">
                <a:moveTo>
                  <a:pt x="0" y="0"/>
                </a:moveTo>
                <a:lnTo>
                  <a:pt x="6322048" y="0"/>
                </a:lnTo>
                <a:lnTo>
                  <a:pt x="6322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8719" y="2593875"/>
            <a:ext cx="5089922" cy="4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321" b="1">
                <a:solidFill>
                  <a:srgbClr val="F4E9DD"/>
                </a:solidFill>
                <a:latin typeface="Roboto Bold"/>
                <a:ea typeface="Roboto Bold"/>
                <a:cs typeface="Roboto Bold"/>
                <a:sym typeface="Roboto Bold"/>
              </a:rPr>
              <a:t>BACKEND SERVICES – SUPABASE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5972" y="3380544"/>
            <a:ext cx="2990296" cy="36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User registration and login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9413" y="3892612"/>
            <a:ext cx="4646215" cy="36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 and account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5504" y="4419742"/>
            <a:ext cx="4037144" cy="36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Stores user-specific game progress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0006" y="4961932"/>
            <a:ext cx="4586874" cy="73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Maintains completed levels, best scores, earned stars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4086" y="6428009"/>
            <a:ext cx="5895474" cy="863627"/>
          </a:xfrm>
          <a:custGeom>
            <a:avLst/>
            <a:gdLst/>
            <a:ahLst/>
            <a:cxnLst/>
            <a:rect l="l" t="t" r="r" b="b"/>
            <a:pathLst>
              <a:path w="5895474" h="863627">
                <a:moveTo>
                  <a:pt x="0" y="0"/>
                </a:moveTo>
                <a:lnTo>
                  <a:pt x="5895474" y="0"/>
                </a:lnTo>
                <a:lnTo>
                  <a:pt x="589547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31402" y="6623045"/>
            <a:ext cx="4731706" cy="40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1">
                <a:solidFill>
                  <a:srgbClr val="6B2124"/>
                </a:solidFill>
                <a:latin typeface="Roboto Bold"/>
                <a:ea typeface="Roboto Bold"/>
                <a:cs typeface="Roboto Bold"/>
                <a:sym typeface="Roboto Bold"/>
              </a:rPr>
              <a:t>DATABASE TABLE: LEVEL_PROGRESS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4086" y="7062064"/>
            <a:ext cx="5895474" cy="655919"/>
          </a:xfrm>
          <a:custGeom>
            <a:avLst/>
            <a:gdLst/>
            <a:ahLst/>
            <a:cxnLst/>
            <a:rect l="l" t="t" r="r" b="b"/>
            <a:pathLst>
              <a:path w="5895474" h="655919">
                <a:moveTo>
                  <a:pt x="0" y="0"/>
                </a:moveTo>
                <a:lnTo>
                  <a:pt x="5895474" y="0"/>
                </a:lnTo>
                <a:lnTo>
                  <a:pt x="5895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4086" y="7499343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957866" y="7062064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957866" y="7499343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957866" y="7499343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040708" y="7062064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040708" y="7499343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040708" y="7499343"/>
            <a:ext cx="1531292" cy="1082267"/>
          </a:xfrm>
          <a:custGeom>
            <a:avLst/>
            <a:gdLst/>
            <a:ahLst/>
            <a:cxnLst/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353244" y="7062064"/>
            <a:ext cx="218756" cy="1519546"/>
          </a:xfrm>
          <a:custGeom>
            <a:avLst/>
            <a:gdLst/>
            <a:ahLst/>
            <a:cxnLst/>
            <a:rect l="l" t="t" r="r" b="b"/>
            <a:pathLst>
              <a:path w="218756" h="1519546">
                <a:moveTo>
                  <a:pt x="0" y="0"/>
                </a:moveTo>
                <a:lnTo>
                  <a:pt x="218756" y="0"/>
                </a:lnTo>
                <a:lnTo>
                  <a:pt x="21875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353244" y="7499343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353244" y="7499343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217330" y="7062064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5217330" y="7499343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217330" y="7499343"/>
            <a:ext cx="1542230" cy="1082267"/>
          </a:xfrm>
          <a:custGeom>
            <a:avLst/>
            <a:gdLst/>
            <a:ahLst/>
            <a:cxnLst/>
            <a:rect l="l" t="t" r="r" b="b"/>
            <a:pathLst>
              <a:path w="1542230" h="1082267">
                <a:moveTo>
                  <a:pt x="0" y="0"/>
                </a:moveTo>
                <a:lnTo>
                  <a:pt x="1542230" y="0"/>
                </a:lnTo>
                <a:lnTo>
                  <a:pt x="154223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0" y="8570678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957866" y="8570678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15732" y="8570678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873598" y="8570678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612708" y="8570678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570574" y="8570678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956440" y="2350377"/>
            <a:ext cx="10467474" cy="6438940"/>
          </a:xfrm>
          <a:custGeom>
            <a:avLst/>
            <a:gdLst/>
            <a:ahLst/>
            <a:cxnLst/>
            <a:rect l="l" t="t" r="r" b="b"/>
            <a:pathLst>
              <a:path w="10467474" h="6438940">
                <a:moveTo>
                  <a:pt x="0" y="0"/>
                </a:moveTo>
                <a:lnTo>
                  <a:pt x="10467474" y="0"/>
                </a:lnTo>
                <a:lnTo>
                  <a:pt x="1046747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956440" y="2350377"/>
            <a:ext cx="10467474" cy="874559"/>
          </a:xfrm>
          <a:custGeom>
            <a:avLst/>
            <a:gdLst/>
            <a:ahLst/>
            <a:cxnLst/>
            <a:rect l="l" t="t" r="r" b="b"/>
            <a:pathLst>
              <a:path w="10467474" h="874559">
                <a:moveTo>
                  <a:pt x="0" y="0"/>
                </a:moveTo>
                <a:lnTo>
                  <a:pt x="10467474" y="0"/>
                </a:lnTo>
                <a:lnTo>
                  <a:pt x="1046747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0329978" y="2541557"/>
            <a:ext cx="3338222" cy="40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047" b="1">
                <a:solidFill>
                  <a:srgbClr val="F4E9DD"/>
                </a:solidFill>
                <a:latin typeface="Roboto Bold"/>
                <a:ea typeface="Roboto Bold"/>
                <a:cs typeface="Roboto Bold"/>
                <a:sym typeface="Roboto Bold"/>
              </a:rPr>
              <a:t>DEPLOYMENT WORKFLOW</a:t>
            </a:r>
          </a:p>
        </p:txBody>
      </p:sp>
      <p:sp>
        <p:nvSpPr>
          <p:cNvPr id="39" name="Freeform 39"/>
          <p:cNvSpPr/>
          <p:nvPr/>
        </p:nvSpPr>
        <p:spPr>
          <a:xfrm>
            <a:off x="7393952" y="3640352"/>
            <a:ext cx="2625072" cy="2361309"/>
          </a:xfrm>
          <a:custGeom>
            <a:avLst/>
            <a:gdLst/>
            <a:ahLst/>
            <a:cxnLst/>
            <a:rect l="l" t="t" r="r" b="b"/>
            <a:pathLst>
              <a:path w="2625072" h="2361309">
                <a:moveTo>
                  <a:pt x="0" y="0"/>
                </a:moveTo>
                <a:lnTo>
                  <a:pt x="2625072" y="0"/>
                </a:lnTo>
                <a:lnTo>
                  <a:pt x="262507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8131563" y="3974323"/>
            <a:ext cx="1241383" cy="576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3032" b="1">
                <a:solidFill>
                  <a:srgbClr val="6B2124"/>
                </a:solidFill>
                <a:latin typeface="Roboto Bold"/>
                <a:ea typeface="Roboto Bold"/>
                <a:cs typeface="Roboto Bold"/>
                <a:sym typeface="Roboto Bold"/>
              </a:rPr>
              <a:t>GitHub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021587" y="4728827"/>
            <a:ext cx="1461336" cy="6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Source code management</a:t>
            </a:r>
          </a:p>
        </p:txBody>
      </p:sp>
      <p:sp>
        <p:nvSpPr>
          <p:cNvPr id="42" name="Freeform 42"/>
          <p:cNvSpPr/>
          <p:nvPr/>
        </p:nvSpPr>
        <p:spPr>
          <a:xfrm>
            <a:off x="10008086" y="4493047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883110" y="3640352"/>
            <a:ext cx="2625072" cy="2361309"/>
          </a:xfrm>
          <a:custGeom>
            <a:avLst/>
            <a:gdLst/>
            <a:ahLst/>
            <a:cxnLst/>
            <a:rect l="l" t="t" r="r" b="b"/>
            <a:pathLst>
              <a:path w="2625072" h="2361309">
                <a:moveTo>
                  <a:pt x="0" y="0"/>
                </a:moveTo>
                <a:lnTo>
                  <a:pt x="2625072" y="0"/>
                </a:lnTo>
                <a:lnTo>
                  <a:pt x="262507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1540732" y="3974323"/>
            <a:ext cx="1150849" cy="576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3032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Vercel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45398" y="4728827"/>
            <a:ext cx="1341518" cy="6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Hosting and deployment</a:t>
            </a:r>
          </a:p>
        </p:txBody>
      </p:sp>
      <p:sp>
        <p:nvSpPr>
          <p:cNvPr id="46" name="Freeform 46"/>
          <p:cNvSpPr/>
          <p:nvPr/>
        </p:nvSpPr>
        <p:spPr>
          <a:xfrm>
            <a:off x="11965952" y="5783021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0226842" y="6635716"/>
            <a:ext cx="3926670" cy="1727254"/>
          </a:xfrm>
          <a:custGeom>
            <a:avLst/>
            <a:gdLst/>
            <a:ahLst/>
            <a:cxnLst/>
            <a:rect l="l" t="t" r="r" b="b"/>
            <a:pathLst>
              <a:path w="3926670" h="1727254">
                <a:moveTo>
                  <a:pt x="0" y="0"/>
                </a:moveTo>
                <a:lnTo>
                  <a:pt x="3926670" y="0"/>
                </a:lnTo>
                <a:lnTo>
                  <a:pt x="392667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1303689" y="6986491"/>
            <a:ext cx="1765310" cy="576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3032" b="1">
                <a:solidFill>
                  <a:srgbClr val="3F6D41"/>
                </a:solidFill>
                <a:latin typeface="Roboto Bold"/>
                <a:ea typeface="Roboto Bold"/>
                <a:cs typeface="Roboto Bold"/>
                <a:sym typeface="Roboto Bold"/>
              </a:rPr>
              <a:t>Supabase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11753" y="7642762"/>
            <a:ext cx="1981866" cy="36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Backend services</a:t>
            </a:r>
          </a:p>
        </p:txBody>
      </p:sp>
      <p:sp>
        <p:nvSpPr>
          <p:cNvPr id="50" name="Freeform 50"/>
          <p:cNvSpPr/>
          <p:nvPr/>
        </p:nvSpPr>
        <p:spPr>
          <a:xfrm>
            <a:off x="13497244" y="4493047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4142574" y="3640352"/>
            <a:ext cx="2843828" cy="2361309"/>
          </a:xfrm>
          <a:custGeom>
            <a:avLst/>
            <a:gdLst/>
            <a:ahLst/>
            <a:cxnLst/>
            <a:rect l="l" t="t" r="r" b="b"/>
            <a:pathLst>
              <a:path w="2843828" h="2361309">
                <a:moveTo>
                  <a:pt x="0" y="0"/>
                </a:moveTo>
                <a:lnTo>
                  <a:pt x="2843828" y="0"/>
                </a:lnTo>
                <a:lnTo>
                  <a:pt x="284382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4403728" y="3974323"/>
            <a:ext cx="2287681" cy="576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3032" b="1">
                <a:solidFill>
                  <a:srgbClr val="EFA739"/>
                </a:solidFill>
                <a:latin typeface="Roboto Bold"/>
                <a:ea typeface="Roboto Bold"/>
                <a:cs typeface="Roboto Bold"/>
                <a:sym typeface="Roboto Bold"/>
              </a:rPr>
              <a:t>Live Website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927329" y="4728827"/>
            <a:ext cx="1264053" cy="9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 available</a:t>
            </a:r>
          </a:p>
          <a:p>
            <a:pPr algn="ctr">
              <a:lnSpc>
                <a:spcPts val="2609"/>
              </a:lnSpc>
            </a:pPr>
            <a:r>
              <a:rPr lang="en-US" sz="1863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publicly</a:t>
            </a:r>
          </a:p>
        </p:txBody>
      </p:sp>
      <p:sp>
        <p:nvSpPr>
          <p:cNvPr id="54" name="Freeform 54"/>
          <p:cNvSpPr/>
          <p:nvPr/>
        </p:nvSpPr>
        <p:spPr>
          <a:xfrm>
            <a:off x="15236354" y="5990729"/>
            <a:ext cx="667206" cy="1727254"/>
          </a:xfrm>
          <a:custGeom>
            <a:avLst/>
            <a:gdLst/>
            <a:ahLst/>
            <a:cxnLst/>
            <a:rect l="l" t="t" r="r" b="b"/>
            <a:pathLst>
              <a:path w="667206" h="1727254">
                <a:moveTo>
                  <a:pt x="0" y="0"/>
                </a:moveTo>
                <a:lnTo>
                  <a:pt x="667206" y="0"/>
                </a:lnTo>
                <a:lnTo>
                  <a:pt x="667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3923818" y="7499343"/>
            <a:ext cx="1760986" cy="218640"/>
          </a:xfrm>
          <a:custGeom>
            <a:avLst/>
            <a:gdLst/>
            <a:ahLst/>
            <a:cxnLst/>
            <a:rect l="l" t="t" r="r" b="b"/>
            <a:pathLst>
              <a:path w="1760986" h="218640">
                <a:moveTo>
                  <a:pt x="0" y="0"/>
                </a:moveTo>
                <a:lnTo>
                  <a:pt x="1760986" y="0"/>
                </a:lnTo>
                <a:lnTo>
                  <a:pt x="176098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235883" y="5889723"/>
            <a:ext cx="4999204" cy="3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Provides user access to progress via accounts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513819" y="7179421"/>
            <a:ext cx="976540" cy="2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completed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29575" y="7179421"/>
            <a:ext cx="1006272" cy="2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best_score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83242" y="7179421"/>
            <a:ext cx="667110" cy="2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user_id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68550" y="7179421"/>
            <a:ext cx="695340" cy="2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level_id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661964" y="7179421"/>
            <a:ext cx="464795" cy="2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1">
                <a:solidFill>
                  <a:srgbClr val="1D2A44"/>
                </a:solidFill>
                <a:latin typeface="Roboto Bold"/>
                <a:ea typeface="Roboto Bold"/>
                <a:cs typeface="Roboto Bold"/>
                <a:sym typeface="Roboto Bold"/>
              </a:rPr>
              <a:t>stars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4403" y="572082"/>
            <a:ext cx="9211231" cy="100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6800" b="1" spc="87" dirty="0">
                <a:solidFill>
                  <a:srgbClr val="6D181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WORKING OF THE PROJECT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497682"/>
            <a:ext cx="5676718" cy="437279"/>
          </a:xfrm>
          <a:custGeom>
            <a:avLst/>
            <a:gdLst/>
            <a:ahLst/>
            <a:cxnLst/>
            <a:rect l="l" t="t" r="r" b="b"/>
            <a:pathLst>
              <a:path w="5676718" h="437279">
                <a:moveTo>
                  <a:pt x="0" y="0"/>
                </a:moveTo>
                <a:lnTo>
                  <a:pt x="5676718" y="0"/>
                </a:lnTo>
                <a:lnTo>
                  <a:pt x="567671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96516" y="2189088"/>
            <a:ext cx="10447734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23">
                <a:solidFill>
                  <a:srgbClr val="1A2B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seamless journey from exploration to achievement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2776725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5330" y="3214004"/>
            <a:ext cx="448450" cy="218640"/>
          </a:xfrm>
          <a:custGeom>
            <a:avLst/>
            <a:gdLst/>
            <a:ahLst/>
            <a:cxnLst/>
            <a:rect l="l" t="t" r="r" b="b"/>
            <a:pathLst>
              <a:path w="448450" h="21864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5330" y="342171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5330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5330" y="3848060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5330" y="428533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5330" y="4493047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5330" y="4919394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330" y="513803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45330" y="556438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45330" y="5783021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45330" y="620936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45330" y="6428009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45330" y="685435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68620" y="6605571"/>
            <a:ext cx="3688769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 b="1" spc="-25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Game evaluates answers and calculates scores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5330" y="706206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45330" y="7499343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45330" y="7707051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5330" y="8133399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45330" y="8352038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45330" y="8352038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436086" y="2776725"/>
            <a:ext cx="229694" cy="6231233"/>
          </a:xfrm>
          <a:custGeom>
            <a:avLst/>
            <a:gdLst/>
            <a:ahLst/>
            <a:cxnLst/>
            <a:rect l="l" t="t" r="r" b="b"/>
            <a:pathLst>
              <a:path w="229694" h="6231233">
                <a:moveTo>
                  <a:pt x="0" y="0"/>
                </a:moveTo>
                <a:lnTo>
                  <a:pt x="229694" y="0"/>
                </a:lnTo>
                <a:lnTo>
                  <a:pt x="229694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092354" y="2569017"/>
            <a:ext cx="3489158" cy="2153601"/>
          </a:xfrm>
          <a:custGeom>
            <a:avLst/>
            <a:gdLst/>
            <a:ahLst/>
            <a:cxnLst/>
            <a:rect l="l" t="t" r="r" b="b"/>
            <a:pathLst>
              <a:path w="3489158" h="2153601">
                <a:moveTo>
                  <a:pt x="0" y="0"/>
                </a:moveTo>
                <a:lnTo>
                  <a:pt x="3489158" y="0"/>
                </a:lnTo>
                <a:lnTo>
                  <a:pt x="348915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654842" y="3421712"/>
            <a:ext cx="4364182" cy="3443576"/>
          </a:xfrm>
          <a:custGeom>
            <a:avLst/>
            <a:gdLst/>
            <a:ahLst/>
            <a:cxnLst/>
            <a:rect l="l" t="t" r="r" b="b"/>
            <a:pathLst>
              <a:path w="4364182" h="3443576">
                <a:moveTo>
                  <a:pt x="0" y="0"/>
                </a:moveTo>
                <a:lnTo>
                  <a:pt x="4364182" y="0"/>
                </a:lnTo>
                <a:lnTo>
                  <a:pt x="436418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092354" y="3848060"/>
            <a:ext cx="3489158" cy="2798589"/>
          </a:xfrm>
          <a:custGeom>
            <a:avLst/>
            <a:gdLst/>
            <a:ahLst/>
            <a:cxnLst/>
            <a:rect l="l" t="t" r="r" b="b"/>
            <a:pathLst>
              <a:path w="3489158" h="2798589">
                <a:moveTo>
                  <a:pt x="0" y="0"/>
                </a:moveTo>
                <a:lnTo>
                  <a:pt x="3489158" y="0"/>
                </a:lnTo>
                <a:lnTo>
                  <a:pt x="348915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435313" y="4812677"/>
            <a:ext cx="2085081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b="1" spc="-22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Explore India's Heritage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36037" y="5758260"/>
            <a:ext cx="2012726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Discover historic places, take on challenges, and test your knowledge.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226842" y="2569017"/>
            <a:ext cx="3281340" cy="2153601"/>
          </a:xfrm>
          <a:custGeom>
            <a:avLst/>
            <a:gdLst/>
            <a:ahLst/>
            <a:cxnLst/>
            <a:rect l="l" t="t" r="r" b="b"/>
            <a:pathLst>
              <a:path w="3281340" h="2153601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9789330" y="3421712"/>
            <a:ext cx="4145426" cy="3443576"/>
          </a:xfrm>
          <a:custGeom>
            <a:avLst/>
            <a:gdLst/>
            <a:ahLst/>
            <a:cxnLst/>
            <a:rect l="l" t="t" r="r" b="b"/>
            <a:pathLst>
              <a:path w="4145426" h="3443576">
                <a:moveTo>
                  <a:pt x="0" y="0"/>
                </a:moveTo>
                <a:lnTo>
                  <a:pt x="4145426" y="0"/>
                </a:lnTo>
                <a:lnTo>
                  <a:pt x="414542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226842" y="4493047"/>
            <a:ext cx="3281340" cy="437279"/>
          </a:xfrm>
          <a:custGeom>
            <a:avLst/>
            <a:gdLst/>
            <a:ahLst/>
            <a:cxnLst/>
            <a:rect l="l" t="t" r="r" b="b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226842" y="4711687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226842" y="5783021"/>
            <a:ext cx="1104718" cy="655919"/>
          </a:xfrm>
          <a:custGeom>
            <a:avLst/>
            <a:gdLst/>
            <a:ahLst/>
            <a:cxnLst/>
            <a:rect l="l" t="t" r="r" b="b"/>
            <a:pathLst>
              <a:path w="1104718" h="655919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320622" y="4711687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1320622" y="5783021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403464" y="4711687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570574" y="4919394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4361330" y="2569017"/>
            <a:ext cx="3281340" cy="2153601"/>
          </a:xfrm>
          <a:custGeom>
            <a:avLst/>
            <a:gdLst/>
            <a:ahLst/>
            <a:cxnLst/>
            <a:rect l="l" t="t" r="r" b="b"/>
            <a:pathLst>
              <a:path w="3281340" h="2153601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923818" y="3421712"/>
            <a:ext cx="4156364" cy="3443576"/>
          </a:xfrm>
          <a:custGeom>
            <a:avLst/>
            <a:gdLst/>
            <a:ahLst/>
            <a:cxnLst/>
            <a:rect l="l" t="t" r="r" b="b"/>
            <a:pathLst>
              <a:path w="4156364" h="3443576">
                <a:moveTo>
                  <a:pt x="0" y="0"/>
                </a:moveTo>
                <a:lnTo>
                  <a:pt x="4156364" y="0"/>
                </a:lnTo>
                <a:lnTo>
                  <a:pt x="415636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4361330" y="4493047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4580086" y="4919394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4670793" y="4947347"/>
            <a:ext cx="586083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916" b="1" spc="-1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1200</a:t>
            </a:r>
          </a:p>
        </p:txBody>
      </p:sp>
      <p:sp>
        <p:nvSpPr>
          <p:cNvPr id="48" name="Freeform 48"/>
          <p:cNvSpPr/>
          <p:nvPr/>
        </p:nvSpPr>
        <p:spPr>
          <a:xfrm>
            <a:off x="14580086" y="5783021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5017598" y="5783021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673866" y="5783021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6100440" y="5783021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537952" y="5783021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3716000" y="4919394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5873598" y="7062064"/>
            <a:ext cx="3707914" cy="655919"/>
          </a:xfrm>
          <a:custGeom>
            <a:avLst/>
            <a:gdLst/>
            <a:ahLst/>
            <a:cxnLst/>
            <a:rect l="l" t="t" r="r" b="b"/>
            <a:pathLst>
              <a:path w="3707914" h="655919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7050794" y="7149197"/>
            <a:ext cx="1485360" cy="35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E19B1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HOME PAGE</a:t>
            </a:r>
          </a:p>
        </p:txBody>
      </p:sp>
      <p:sp>
        <p:nvSpPr>
          <p:cNvPr id="56" name="Freeform 56"/>
          <p:cNvSpPr/>
          <p:nvPr/>
        </p:nvSpPr>
        <p:spPr>
          <a:xfrm>
            <a:off x="10008086" y="7062064"/>
            <a:ext cx="3707914" cy="655919"/>
          </a:xfrm>
          <a:custGeom>
            <a:avLst/>
            <a:gdLst/>
            <a:ahLst/>
            <a:cxnLst/>
            <a:rect l="l" t="t" r="r" b="b"/>
            <a:pathLst>
              <a:path w="3707914" h="655919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10988152" y="7149197"/>
            <a:ext cx="1861676" cy="35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E19B1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EXPLORE PAGE</a:t>
            </a:r>
          </a:p>
        </p:txBody>
      </p:sp>
      <p:sp>
        <p:nvSpPr>
          <p:cNvPr id="58" name="Freeform 58"/>
          <p:cNvSpPr/>
          <p:nvPr/>
        </p:nvSpPr>
        <p:spPr>
          <a:xfrm>
            <a:off x="14142574" y="7062064"/>
            <a:ext cx="3718852" cy="655919"/>
          </a:xfrm>
          <a:custGeom>
            <a:avLst/>
            <a:gdLst/>
            <a:ahLst/>
            <a:cxnLst/>
            <a:rect l="l" t="t" r="r" b="b"/>
            <a:pathLst>
              <a:path w="3718852" h="655919">
                <a:moveTo>
                  <a:pt x="0" y="0"/>
                </a:moveTo>
                <a:lnTo>
                  <a:pt x="3718852" y="0"/>
                </a:lnTo>
                <a:lnTo>
                  <a:pt x="371885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14647284" y="7149197"/>
            <a:ext cx="2526553" cy="35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E19B1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MY PROGRESS PAGE</a:t>
            </a:r>
          </a:p>
        </p:txBody>
      </p:sp>
      <p:sp>
        <p:nvSpPr>
          <p:cNvPr id="60" name="Freeform 60"/>
          <p:cNvSpPr/>
          <p:nvPr/>
        </p:nvSpPr>
        <p:spPr>
          <a:xfrm>
            <a:off x="0" y="8997026"/>
            <a:ext cx="2395378" cy="1289974"/>
          </a:xfrm>
          <a:custGeom>
            <a:avLst/>
            <a:gdLst/>
            <a:ahLst/>
            <a:cxnLst/>
            <a:rect l="l" t="t" r="r" b="b"/>
            <a:pathLst>
              <a:path w="2395378" h="1289974">
                <a:moveTo>
                  <a:pt x="0" y="0"/>
                </a:moveTo>
                <a:lnTo>
                  <a:pt x="2395378" y="0"/>
                </a:lnTo>
                <a:lnTo>
                  <a:pt x="239537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2384440" y="8997026"/>
            <a:ext cx="2406316" cy="1289974"/>
          </a:xfrm>
          <a:custGeom>
            <a:avLst/>
            <a:gdLst/>
            <a:ahLst/>
            <a:cxnLst/>
            <a:rect l="l" t="t" r="r" b="b"/>
            <a:pathLst>
              <a:path w="2406316" h="1289974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4779818" y="8997026"/>
            <a:ext cx="2406316" cy="1289974"/>
          </a:xfrm>
          <a:custGeom>
            <a:avLst/>
            <a:gdLst/>
            <a:ahLst/>
            <a:cxnLst/>
            <a:rect l="l" t="t" r="r" b="b"/>
            <a:pathLst>
              <a:path w="2406316" h="1289974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7175196" y="8997026"/>
            <a:ext cx="2406316" cy="1289974"/>
          </a:xfrm>
          <a:custGeom>
            <a:avLst/>
            <a:gdLst/>
            <a:ahLst/>
            <a:cxnLst/>
            <a:rect l="l" t="t" r="r" b="b"/>
            <a:pathLst>
              <a:path w="2406316" h="1289974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9570574" y="8997026"/>
            <a:ext cx="2406316" cy="1289974"/>
          </a:xfrm>
          <a:custGeom>
            <a:avLst/>
            <a:gdLst/>
            <a:ahLst/>
            <a:cxnLst/>
            <a:rect l="l" t="t" r="r" b="b"/>
            <a:pathLst>
              <a:path w="2406316" h="1289974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4361330" y="8997026"/>
            <a:ext cx="2406316" cy="1289974"/>
          </a:xfrm>
          <a:custGeom>
            <a:avLst/>
            <a:gdLst/>
            <a:ahLst/>
            <a:cxnLst/>
            <a:rect l="l" t="t" r="r" b="b"/>
            <a:pathLst>
              <a:path w="2406316" h="1289974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6756708" y="8997026"/>
            <a:ext cx="1531292" cy="1289974"/>
          </a:xfrm>
          <a:custGeom>
            <a:avLst/>
            <a:gdLst/>
            <a:ahLst/>
            <a:cxnLst/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836173" y="2938943"/>
            <a:ext cx="88232" cy="2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1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75842" y="2944479"/>
            <a:ext cx="2966536" cy="17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1" spc="-13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User opens HeritageQuest website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4194" y="3541376"/>
            <a:ext cx="132189" cy="2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1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1742" y="3561973"/>
            <a:ext cx="3376593" cy="17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1" spc="-13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Explores heritage destinations available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357011" y="3803016"/>
            <a:ext cx="1035662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HERITAGEQUEST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375370" y="3803016"/>
            <a:ext cx="1035662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HERITAGEQUEST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258284" y="3833138"/>
            <a:ext cx="1035662" cy="16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HERITAGEQUEST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101727" y="3739973"/>
            <a:ext cx="1535887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Sethorne   Chelmsky   Sams   Wj Sams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146876" y="3739973"/>
            <a:ext cx="1535887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Sethorne   Chelmsky   Sams   Wj Sams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191792" y="3739973"/>
            <a:ext cx="1559036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Sethorne   Chelmsky   Sams   Wj Sams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12434" y="4173932"/>
            <a:ext cx="135710" cy="2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1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67671" y="4179468"/>
            <a:ext cx="3783721" cy="17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1" spc="-13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Searches or selects a region for destinations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351603" y="4215125"/>
            <a:ext cx="1576372" cy="16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 spc="-11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Explore Destinations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402809" y="4215125"/>
            <a:ext cx="970656" cy="16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 spc="-11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My Progress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434327" y="4508076"/>
            <a:ext cx="1340695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spc="-1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5. Search by region or destination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5689554" y="4552675"/>
            <a:ext cx="883621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 b="1" spc="-10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Adventures Completed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6654227" y="4553604"/>
            <a:ext cx="857032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124" b="1" spc="-10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Outrings Completed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09126" y="4776365"/>
            <a:ext cx="142325" cy="2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1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5697371" y="4787437"/>
            <a:ext cx="101994" cy="16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 spc="-11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65374" y="4812023"/>
            <a:ext cx="4013333" cy="17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1" spc="-13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Views destinations via cards or interactive map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6660739" y="4802498"/>
            <a:ext cx="205827" cy="16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 spc="-11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24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5698391" y="5142315"/>
            <a:ext cx="884039" cy="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627" b="1" spc="-6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Beginn Expired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6662797" y="5142315"/>
            <a:ext cx="884039" cy="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627" b="1" spc="-6">
                <a:solidFill>
                  <a:srgbClr val="1A2B4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Prami @dille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4755773" y="5213503"/>
            <a:ext cx="500072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Tand Stone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670885" y="5227783"/>
            <a:ext cx="71647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2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8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6730117" y="5227783"/>
            <a:ext cx="74314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19161" y="5330489"/>
            <a:ext cx="124399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65524" y="5370582"/>
            <a:ext cx="3998430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 b="1" spc="-25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Selects a destination to access detailed information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4404473" y="5619365"/>
            <a:ext cx="804231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Achievements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5663559" y="5619365"/>
            <a:ext cx="804231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Achievements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515948" y="5709396"/>
            <a:ext cx="334883" cy="63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Hangi</a:t>
            </a:r>
          </a:p>
          <a:p>
            <a:pPr algn="l">
              <a:lnSpc>
                <a:spcPts val="1687"/>
              </a:lnSpc>
            </a:pPr>
            <a:r>
              <a:rPr lang="en-US" sz="1125" spc="-22">
                <a:solidFill>
                  <a:srgbClr val="1F3242"/>
                </a:solidFill>
                <a:latin typeface="Bebas Neue"/>
                <a:ea typeface="Bebas Neue"/>
                <a:cs typeface="Bebas Neue"/>
                <a:sym typeface="Bebas Neue"/>
              </a:rPr>
              <a:t>Karnata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583045" y="5816495"/>
            <a:ext cx="78140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Rajguru's Temple</a:t>
            </a:r>
          </a:p>
          <a:p>
            <a:pPr algn="l">
              <a:lnSpc>
                <a:spcPts val="1687"/>
              </a:lnSpc>
            </a:pPr>
            <a:r>
              <a:rPr lang="en-US" sz="1125" spc="-22">
                <a:solidFill>
                  <a:srgbClr val="1F3242"/>
                </a:solidFill>
                <a:latin typeface="Bebas Neue"/>
                <a:ea typeface="Bebas Neue"/>
                <a:cs typeface="Bebas Neue"/>
                <a:sym typeface="Bebas Neue"/>
              </a:rPr>
              <a:t>Karnata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415117" y="5723452"/>
            <a:ext cx="582815" cy="63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22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Maksi</a:t>
            </a:r>
          </a:p>
          <a:p>
            <a:pPr algn="l">
              <a:lnSpc>
                <a:spcPts val="1687"/>
              </a:lnSpc>
            </a:pPr>
            <a:r>
              <a:rPr lang="en-US" sz="1125" spc="-22">
                <a:solidFill>
                  <a:srgbClr val="1F3242"/>
                </a:solidFill>
                <a:latin typeface="Bebas Neue"/>
                <a:ea typeface="Bebas Neue"/>
                <a:cs typeface="Bebas Neue"/>
                <a:sym typeface="Bebas Neue"/>
              </a:rPr>
              <a:t>Aga, Ular Patek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16654" y="5963045"/>
            <a:ext cx="129413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168223" y="5963045"/>
            <a:ext cx="3728441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b="1" spc="-26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Starts an adventure and attempts challenges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22948" y="6580539"/>
            <a:ext cx="116823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7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16867" y="7182973"/>
            <a:ext cx="128986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8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62151" y="7223530"/>
            <a:ext cx="4335664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 b="1" spc="-25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Stars and completed levels represent user achievements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16654" y="7785406"/>
            <a:ext cx="129413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9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67237" y="7840560"/>
            <a:ext cx="3827083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 b="1" spc="-25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Authenticated progress saved through Supabase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73872" y="8417962"/>
            <a:ext cx="214976" cy="2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10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62766" y="8458055"/>
            <a:ext cx="4274230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 b="1" spc="-25">
                <a:solidFill>
                  <a:srgbClr val="1F324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User views achievements and progress in My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40976" y="0"/>
            <a:ext cx="5447024" cy="3432644"/>
          </a:xfrm>
          <a:custGeom>
            <a:avLst/>
            <a:gdLst/>
            <a:ahLst/>
            <a:cxnLst/>
            <a:rect l="l" t="t" r="r" b="b"/>
            <a:pathLst>
              <a:path w="5447024" h="3432644">
                <a:moveTo>
                  <a:pt x="0" y="0"/>
                </a:moveTo>
                <a:lnTo>
                  <a:pt x="5447024" y="0"/>
                </a:lnTo>
                <a:lnTo>
                  <a:pt x="544702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352038"/>
            <a:ext cx="10456536" cy="1300906"/>
          </a:xfrm>
          <a:custGeom>
            <a:avLst/>
            <a:gdLst/>
            <a:ahLst/>
            <a:cxnLst/>
            <a:rect l="l" t="t" r="r" b="b"/>
            <a:pathLst>
              <a:path w="10456536" h="1300906">
                <a:moveTo>
                  <a:pt x="0" y="0"/>
                </a:moveTo>
                <a:lnTo>
                  <a:pt x="10456536" y="0"/>
                </a:lnTo>
                <a:lnTo>
                  <a:pt x="10456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9146" y="831079"/>
            <a:ext cx="672480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800" b="1" spc="-116" dirty="0">
                <a:solidFill>
                  <a:srgbClr val="691C1F"/>
                </a:solidFill>
                <a:latin typeface="Roboto Bold"/>
                <a:ea typeface="Roboto Bold"/>
                <a:cs typeface="Roboto Bold"/>
                <a:sym typeface="Roboto Bold"/>
              </a:rPr>
              <a:t>Expected Output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1924030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9729" y="2464620"/>
            <a:ext cx="5357537" cy="92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An immersive platform that explores, educates and inspires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083" y="3805690"/>
            <a:ext cx="4922136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Discover India's heritage through interactive maps and destination stories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965" y="4769584"/>
            <a:ext cx="3933949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Learn with adventure challenges at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every destination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4219" y="5763599"/>
            <a:ext cx="4908567" cy="35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Earn scores, stars and levels as you explore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6035" y="6381094"/>
            <a:ext cx="4726939" cy="35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Track your journey and celebrate progress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7987" y="6998589"/>
            <a:ext cx="4531742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Build deeper connection with India's rich culture and history</a:t>
            </a:r>
          </a:p>
        </p:txBody>
      </p:sp>
      <p:sp>
        <p:nvSpPr>
          <p:cNvPr id="14" name="Freeform 14"/>
          <p:cNvSpPr/>
          <p:nvPr/>
        </p:nvSpPr>
        <p:spPr>
          <a:xfrm>
            <a:off x="5436086" y="1497682"/>
            <a:ext cx="10248718" cy="7291635"/>
          </a:xfrm>
          <a:custGeom>
            <a:avLst/>
            <a:gdLst/>
            <a:ahLst/>
            <a:cxnLst/>
            <a:rect l="l" t="t" r="r" b="b"/>
            <a:pathLst>
              <a:path w="10248718" h="7291635">
                <a:moveTo>
                  <a:pt x="0" y="0"/>
                </a:moveTo>
                <a:lnTo>
                  <a:pt x="10248718" y="0"/>
                </a:lnTo>
                <a:lnTo>
                  <a:pt x="10248718" y="7291636"/>
                </a:lnTo>
                <a:lnTo>
                  <a:pt x="0" y="72916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48622" y="2350377"/>
            <a:ext cx="5665780" cy="3017228"/>
          </a:xfrm>
          <a:custGeom>
            <a:avLst/>
            <a:gdLst/>
            <a:ahLst/>
            <a:cxnLst/>
            <a:rect l="l" t="t" r="r" b="b"/>
            <a:pathLst>
              <a:path w="5665780" h="3017228">
                <a:moveTo>
                  <a:pt x="0" y="0"/>
                </a:moveTo>
                <a:lnTo>
                  <a:pt x="5665780" y="0"/>
                </a:lnTo>
                <a:lnTo>
                  <a:pt x="5665780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184708" y="2350377"/>
            <a:ext cx="3281340" cy="3017228"/>
          </a:xfrm>
          <a:custGeom>
            <a:avLst/>
            <a:gdLst/>
            <a:ahLst/>
            <a:cxnLst/>
            <a:rect l="l" t="t" r="r" b="b"/>
            <a:pathLst>
              <a:path w="3281340" h="3017228">
                <a:moveTo>
                  <a:pt x="0" y="0"/>
                </a:moveTo>
                <a:lnTo>
                  <a:pt x="3281340" y="0"/>
                </a:lnTo>
                <a:lnTo>
                  <a:pt x="3281340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294477" y="2056543"/>
            <a:ext cx="1893692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1">
                <a:solidFill>
                  <a:srgbClr val="691C1F"/>
                </a:solidFill>
                <a:latin typeface="Roboto Bold"/>
                <a:ea typeface="Roboto Bold"/>
                <a:cs typeface="Roboto Bold"/>
                <a:sym typeface="Roboto Bold"/>
              </a:rPr>
              <a:t>HERITAGE</a:t>
            </a:r>
            <a:r>
              <a:rPr lang="en-US" sz="1863" b="1">
                <a:solidFill>
                  <a:srgbClr val="F0A923"/>
                </a:solidFill>
                <a:latin typeface="Roboto Bold"/>
                <a:ea typeface="Roboto Bold"/>
                <a:cs typeface="Roboto Bold"/>
                <a:sym typeface="Roboto Bold"/>
              </a:rPr>
              <a:t>QUEST</a:t>
            </a:r>
          </a:p>
        </p:txBody>
      </p:sp>
      <p:sp>
        <p:nvSpPr>
          <p:cNvPr id="18" name="Freeform 18"/>
          <p:cNvSpPr/>
          <p:nvPr/>
        </p:nvSpPr>
        <p:spPr>
          <a:xfrm>
            <a:off x="9570574" y="2350377"/>
            <a:ext cx="667206" cy="229572"/>
          </a:xfrm>
          <a:custGeom>
            <a:avLst/>
            <a:gdLst/>
            <a:ahLst/>
            <a:cxnLst/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289922" y="2995851"/>
            <a:ext cx="2349239" cy="84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>
                <a:solidFill>
                  <a:srgbClr val="F6F0E2"/>
                </a:solidFill>
                <a:latin typeface="Roboto Bold"/>
                <a:ea typeface="Roboto Bold"/>
                <a:cs typeface="Roboto Bold"/>
                <a:sym typeface="Roboto Bold"/>
              </a:rPr>
              <a:t>Explore India's Heritage</a:t>
            </a:r>
          </a:p>
        </p:txBody>
      </p:sp>
      <p:sp>
        <p:nvSpPr>
          <p:cNvPr id="20" name="Freeform 20"/>
          <p:cNvSpPr/>
          <p:nvPr/>
        </p:nvSpPr>
        <p:spPr>
          <a:xfrm>
            <a:off x="7175196" y="4493047"/>
            <a:ext cx="1542230" cy="655919"/>
          </a:xfrm>
          <a:custGeom>
            <a:avLst/>
            <a:gdLst/>
            <a:ahLst/>
            <a:cxnLst/>
            <a:rect l="l" t="t" r="r" b="b"/>
            <a:pathLst>
              <a:path w="1542230" h="655919">
                <a:moveTo>
                  <a:pt x="0" y="0"/>
                </a:moveTo>
                <a:lnTo>
                  <a:pt x="1542230" y="0"/>
                </a:lnTo>
                <a:lnTo>
                  <a:pt x="154223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293465" y="5550658"/>
            <a:ext cx="1994896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Popular Destinations</a:t>
            </a:r>
          </a:p>
        </p:txBody>
      </p:sp>
      <p:sp>
        <p:nvSpPr>
          <p:cNvPr id="22" name="Freeform 22"/>
          <p:cNvSpPr/>
          <p:nvPr/>
        </p:nvSpPr>
        <p:spPr>
          <a:xfrm>
            <a:off x="7175196" y="5783021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175196" y="7062064"/>
            <a:ext cx="1968804" cy="874559"/>
          </a:xfrm>
          <a:custGeom>
            <a:avLst/>
            <a:gdLst/>
            <a:ahLst/>
            <a:cxnLst/>
            <a:rect l="l" t="t" r="r" b="b"/>
            <a:pathLst>
              <a:path w="1968804" h="874559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393952" y="7499343"/>
            <a:ext cx="885962" cy="218640"/>
          </a:xfrm>
          <a:custGeom>
            <a:avLst/>
            <a:gdLst/>
            <a:ahLst/>
            <a:cxnLst/>
            <a:rect l="l" t="t" r="r" b="b"/>
            <a:pathLst>
              <a:path w="885962" h="218640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487732" y="7280704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144000" y="5783021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144000" y="7062064"/>
            <a:ext cx="1968804" cy="874559"/>
          </a:xfrm>
          <a:custGeom>
            <a:avLst/>
            <a:gdLst/>
            <a:ahLst/>
            <a:cxnLst/>
            <a:rect l="l" t="t" r="r" b="b"/>
            <a:pathLst>
              <a:path w="1968804" h="874559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351818" y="7499343"/>
            <a:ext cx="667206" cy="218640"/>
          </a:xfrm>
          <a:custGeom>
            <a:avLst/>
            <a:gdLst/>
            <a:ahLst/>
            <a:cxnLst/>
            <a:rect l="l" t="t" r="r" b="b"/>
            <a:pathLst>
              <a:path w="667206" h="218640">
                <a:moveTo>
                  <a:pt x="0" y="0"/>
                </a:moveTo>
                <a:lnTo>
                  <a:pt x="667206" y="0"/>
                </a:lnTo>
                <a:lnTo>
                  <a:pt x="667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226842" y="7280704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101866" y="5783021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101866" y="7062064"/>
            <a:ext cx="1968804" cy="874559"/>
          </a:xfrm>
          <a:custGeom>
            <a:avLst/>
            <a:gdLst/>
            <a:ahLst/>
            <a:cxnLst/>
            <a:rect l="l" t="t" r="r" b="b"/>
            <a:pathLst>
              <a:path w="1968804" h="874559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101866" y="7499343"/>
            <a:ext cx="875024" cy="218640"/>
          </a:xfrm>
          <a:custGeom>
            <a:avLst/>
            <a:gdLst/>
            <a:ahLst/>
            <a:cxnLst/>
            <a:rect l="l" t="t" r="r" b="b"/>
            <a:pathLst>
              <a:path w="875024" h="218640">
                <a:moveTo>
                  <a:pt x="0" y="0"/>
                </a:moveTo>
                <a:lnTo>
                  <a:pt x="875024" y="0"/>
                </a:lnTo>
                <a:lnTo>
                  <a:pt x="87502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206857" y="7291635"/>
            <a:ext cx="863813" cy="426348"/>
          </a:xfrm>
          <a:custGeom>
            <a:avLst/>
            <a:gdLst/>
            <a:ahLst/>
            <a:cxnLst/>
            <a:rect l="l" t="t" r="r" b="b"/>
            <a:pathLst>
              <a:path w="863813" h="426348">
                <a:moveTo>
                  <a:pt x="0" y="0"/>
                </a:moveTo>
                <a:lnTo>
                  <a:pt x="863813" y="0"/>
                </a:lnTo>
                <a:lnTo>
                  <a:pt x="863813" y="426348"/>
                </a:lnTo>
                <a:lnTo>
                  <a:pt x="0" y="42634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059732" y="4919394"/>
            <a:ext cx="2187560" cy="4514911"/>
          </a:xfrm>
          <a:custGeom>
            <a:avLst/>
            <a:gdLst/>
            <a:ahLst/>
            <a:cxnLst/>
            <a:rect l="l" t="t" r="r" b="b"/>
            <a:pathLst>
              <a:path w="2187560" h="4514911">
                <a:moveTo>
                  <a:pt x="0" y="0"/>
                </a:moveTo>
                <a:lnTo>
                  <a:pt x="2187560" y="0"/>
                </a:lnTo>
                <a:lnTo>
                  <a:pt x="218756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3278488" y="556438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3361782" y="6410227"/>
            <a:ext cx="596058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Level 12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278488" y="6635716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278488" y="8570678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580086" y="7707051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580086" y="81333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4798842" y="4285339"/>
            <a:ext cx="2843828" cy="1716322"/>
          </a:xfrm>
          <a:custGeom>
            <a:avLst/>
            <a:gdLst/>
            <a:ahLst/>
            <a:cxnLst/>
            <a:rect l="l" t="t" r="r" b="b"/>
            <a:pathLst>
              <a:path w="2843828" h="1716322">
                <a:moveTo>
                  <a:pt x="0" y="0"/>
                </a:moveTo>
                <a:lnTo>
                  <a:pt x="2843828" y="0"/>
                </a:lnTo>
                <a:lnTo>
                  <a:pt x="284382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5139332" y="6091606"/>
            <a:ext cx="2327747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Rich dynasty built the Bhihadeeswar</a:t>
            </a:r>
          </a:p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Temple in Thanjavur?</a:t>
            </a:r>
          </a:p>
        </p:txBody>
      </p:sp>
      <p:sp>
        <p:nvSpPr>
          <p:cNvPr id="43" name="Freeform 43"/>
          <p:cNvSpPr/>
          <p:nvPr/>
        </p:nvSpPr>
        <p:spPr>
          <a:xfrm>
            <a:off x="15017598" y="6635716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5017598" y="6854356"/>
            <a:ext cx="2625072" cy="655919"/>
          </a:xfrm>
          <a:custGeom>
            <a:avLst/>
            <a:gdLst/>
            <a:ahLst/>
            <a:cxnLst/>
            <a:rect l="l" t="t" r="r" b="b"/>
            <a:pathLst>
              <a:path w="2625072" h="655919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5340782" y="6950186"/>
            <a:ext cx="935066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Pallava Dynasty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017598" y="7280704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017598" y="7707051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5017598" y="8133399"/>
            <a:ext cx="2625072" cy="655919"/>
          </a:xfrm>
          <a:custGeom>
            <a:avLst/>
            <a:gdLst/>
            <a:ahLst/>
            <a:cxnLst/>
            <a:rect l="l" t="t" r="r" b="b"/>
            <a:pathLst>
              <a:path w="2625072" h="655919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6537952" y="8133399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4142574" y="2995365"/>
            <a:ext cx="3937608" cy="6438940"/>
          </a:xfrm>
          <a:custGeom>
            <a:avLst/>
            <a:gdLst/>
            <a:ahLst/>
            <a:cxnLst/>
            <a:rect l="l" t="t" r="r" b="b"/>
            <a:pathLst>
              <a:path w="3937608" h="6438940">
                <a:moveTo>
                  <a:pt x="0" y="0"/>
                </a:moveTo>
                <a:lnTo>
                  <a:pt x="3937608" y="0"/>
                </a:lnTo>
                <a:lnTo>
                  <a:pt x="3937608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7291873" y="3952967"/>
            <a:ext cx="2154126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Embark on interactive adventures</a:t>
            </a:r>
          </a:p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across timeless destinations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129281" y="3788540"/>
            <a:ext cx="1991161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0"/>
              </a:lnSpc>
            </a:pPr>
            <a:r>
              <a:rPr lang="en-US" sz="1617" b="1">
                <a:solidFill>
                  <a:srgbClr val="691C1F"/>
                </a:solidFill>
                <a:latin typeface="Roboto Bold"/>
                <a:ea typeface="Roboto Bold"/>
                <a:cs typeface="Roboto Bold"/>
                <a:sym typeface="Roboto Bold"/>
              </a:rPr>
              <a:t>Adventure Challenge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902348" y="4150654"/>
            <a:ext cx="1915976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 Level 3: Ancient Temples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409018" y="7728253"/>
            <a:ext cx="1230193" cy="63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Temple Exploration</a:t>
            </a:r>
          </a:p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Convened 5temple challenges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516210" y="5460947"/>
            <a:ext cx="1226646" cy="2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2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Adventure Back!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90628" y="4663169"/>
            <a:ext cx="1030984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Exploring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338072" y="7673106"/>
            <a:ext cx="1206076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Rashitaluda Dynasty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339655" y="7296585"/>
            <a:ext cx="104777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Chalukya Dynasty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367436" y="7148208"/>
            <a:ext cx="873627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Hawa Mahal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341656" y="6573665"/>
            <a:ext cx="847730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Chola Dynasty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191057" y="1965047"/>
            <a:ext cx="677101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Chalitempa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181949" y="8277771"/>
            <a:ext cx="744937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Score: 250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70997" y="7148208"/>
            <a:ext cx="719816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Khajuraho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40487" y="7148208"/>
            <a:ext cx="687220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F2346"/>
                </a:solidFill>
                <a:latin typeface="Roboto Bold"/>
                <a:ea typeface="Roboto Bold"/>
                <a:cs typeface="Roboto Bold"/>
                <a:sym typeface="Roboto Bold"/>
              </a:rPr>
              <a:t>Taj Mahal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871511" y="5807793"/>
            <a:ext cx="522312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Ananya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15402" y="8614799"/>
            <a:ext cx="77539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View Progress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309385" y="1965047"/>
            <a:ext cx="44039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Explore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130243" y="1965047"/>
            <a:ext cx="52023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Blesstori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402413" y="7377784"/>
            <a:ext cx="40014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694063" y="1965047"/>
            <a:ext cx="35775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>
                <a:solidFill>
                  <a:srgbClr val="691C1F"/>
                </a:solidFill>
                <a:latin typeface="Roboto Bold"/>
                <a:ea typeface="Roboto Bold"/>
                <a:cs typeface="Roboto Bold"/>
                <a:sym typeface="Roboto Bold"/>
              </a:rPr>
              <a:t>Home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60445" y="7453094"/>
            <a:ext cx="331871" cy="34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873203" y="5859446"/>
            <a:ext cx="353104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856575" y="1965047"/>
            <a:ext cx="217460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F2346"/>
                </a:solidFill>
                <a:latin typeface="Roboto"/>
                <a:ea typeface="Roboto"/>
                <a:cs typeface="Roboto"/>
                <a:sym typeface="Roboto"/>
              </a:rPr>
              <a:t>Ilati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4386" y="546888"/>
            <a:ext cx="4406147" cy="1025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11"/>
              </a:lnSpc>
            </a:pPr>
            <a:r>
              <a:rPr lang="en-US" sz="6800" b="1" dirty="0">
                <a:solidFill>
                  <a:srgbClr val="701F1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70539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1924030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1924030"/>
            <a:ext cx="5895474" cy="1082267"/>
          </a:xfrm>
          <a:custGeom>
            <a:avLst/>
            <a:gdLst/>
            <a:ahLst/>
            <a:cxnLst/>
            <a:rect l="l" t="t" r="r" b="b"/>
            <a:pathLst>
              <a:path w="5895474" h="1082267">
                <a:moveTo>
                  <a:pt x="0" y="0"/>
                </a:moveTo>
                <a:lnTo>
                  <a:pt x="5895474" y="0"/>
                </a:lnTo>
                <a:lnTo>
                  <a:pt x="5895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9332" y="2138643"/>
            <a:ext cx="4617547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0F203F"/>
                </a:solidFill>
                <a:latin typeface="Roboto Bold"/>
                <a:ea typeface="Roboto Bold"/>
                <a:cs typeface="Roboto Bold"/>
                <a:sym typeface="Roboto Bold"/>
              </a:rPr>
              <a:t>Brings together India's cultural heritage and modern web technology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2995365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4086" y="2995365"/>
            <a:ext cx="5895474" cy="1300906"/>
          </a:xfrm>
          <a:custGeom>
            <a:avLst/>
            <a:gdLst/>
            <a:ahLst/>
            <a:cxnLst/>
            <a:rect l="l" t="t" r="r" b="b"/>
            <a:pathLst>
              <a:path w="5895474" h="1300906">
                <a:moveTo>
                  <a:pt x="0" y="0"/>
                </a:moveTo>
                <a:lnTo>
                  <a:pt x="5895474" y="0"/>
                </a:lnTo>
                <a:lnTo>
                  <a:pt x="5895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2819" y="3253146"/>
            <a:ext cx="3268841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0F203F"/>
                </a:solidFill>
                <a:latin typeface="Roboto Bold"/>
                <a:ea typeface="Roboto Bold"/>
                <a:cs typeface="Roboto Bold"/>
                <a:sym typeface="Roboto Bold"/>
              </a:rPr>
              <a:t>Transforms exploration into interactive learning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4066699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4086" y="4066699"/>
            <a:ext cx="5895474" cy="1300906"/>
          </a:xfrm>
          <a:custGeom>
            <a:avLst/>
            <a:gdLst/>
            <a:ahLst/>
            <a:cxnLst/>
            <a:rect l="l" t="t" r="r" b="b"/>
            <a:pathLst>
              <a:path w="5895474" h="1300906">
                <a:moveTo>
                  <a:pt x="0" y="0"/>
                </a:moveTo>
                <a:lnTo>
                  <a:pt x="5895474" y="0"/>
                </a:lnTo>
                <a:lnTo>
                  <a:pt x="5895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54199" y="4397769"/>
            <a:ext cx="5130905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0F203F"/>
                </a:solidFill>
                <a:latin typeface="Roboto Bold"/>
                <a:ea typeface="Roboto Bold"/>
                <a:cs typeface="Roboto Bold"/>
                <a:sym typeface="Roboto Bold"/>
              </a:rPr>
              <a:t>Maps, information, and gamified challenges encourage active engagement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5356674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4086" y="5356674"/>
            <a:ext cx="5895474" cy="1082267"/>
          </a:xfrm>
          <a:custGeom>
            <a:avLst/>
            <a:gdLst/>
            <a:ahLst/>
            <a:cxnLst/>
            <a:rect l="l" t="t" r="r" b="b"/>
            <a:pathLst>
              <a:path w="5895474" h="1082267">
                <a:moveTo>
                  <a:pt x="0" y="0"/>
                </a:moveTo>
                <a:lnTo>
                  <a:pt x="5895474" y="0"/>
                </a:lnTo>
                <a:lnTo>
                  <a:pt x="5895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65457" y="5557454"/>
            <a:ext cx="4005077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0F203F"/>
                </a:solidFill>
                <a:latin typeface="Roboto Bold"/>
                <a:ea typeface="Roboto Bold"/>
                <a:cs typeface="Roboto Bold"/>
                <a:sym typeface="Roboto Bold"/>
              </a:rPr>
              <a:t>Supabase supports authentication and progress tracking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5330" y="6428009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4086" y="6428009"/>
            <a:ext cx="5895474" cy="1289974"/>
          </a:xfrm>
          <a:custGeom>
            <a:avLst/>
            <a:gdLst/>
            <a:ahLst/>
            <a:cxnLst/>
            <a:rect l="l" t="t" r="r" b="b"/>
            <a:pathLst>
              <a:path w="5895474" h="1289974">
                <a:moveTo>
                  <a:pt x="0" y="0"/>
                </a:moveTo>
                <a:lnTo>
                  <a:pt x="5895474" y="0"/>
                </a:lnTo>
                <a:lnTo>
                  <a:pt x="5895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69470" y="6702078"/>
            <a:ext cx="3603794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0F203F"/>
                </a:solidFill>
                <a:latin typeface="Roboto Bold"/>
                <a:ea typeface="Roboto Bold"/>
                <a:cs typeface="Roboto Bold"/>
                <a:sym typeface="Roboto Bold"/>
              </a:rPr>
              <a:t>An engaging way to appreciate India's historical treasures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6748622" y="1924030"/>
            <a:ext cx="4582938" cy="5793953"/>
          </a:xfrm>
          <a:custGeom>
            <a:avLst/>
            <a:gdLst/>
            <a:ahLst/>
            <a:cxnLst/>
            <a:rect l="l" t="t" r="r" b="b"/>
            <a:pathLst>
              <a:path w="4582938" h="5793953">
                <a:moveTo>
                  <a:pt x="0" y="0"/>
                </a:moveTo>
                <a:lnTo>
                  <a:pt x="4582938" y="0"/>
                </a:lnTo>
                <a:lnTo>
                  <a:pt x="458293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98229" y="2361130"/>
            <a:ext cx="3481772" cy="4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>
                <a:solidFill>
                  <a:srgbClr val="F0A10D"/>
                </a:solidFill>
                <a:latin typeface="Roboto Bold"/>
                <a:ea typeface="Roboto Bold"/>
                <a:cs typeface="Roboto Bold"/>
                <a:sym typeface="Roboto Bold"/>
              </a:rPr>
              <a:t>Future Enhancements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75196" y="2995365"/>
            <a:ext cx="3718852" cy="229572"/>
          </a:xfrm>
          <a:custGeom>
            <a:avLst/>
            <a:gdLst/>
            <a:ahLst/>
            <a:cxnLst/>
            <a:rect l="l" t="t" r="r" b="b"/>
            <a:pathLst>
              <a:path w="3718852" h="22957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198237" y="3434011"/>
            <a:ext cx="3480950" cy="33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191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Add more heritage destinations</a:t>
            </a:r>
          </a:p>
        </p:txBody>
      </p:sp>
      <p:sp>
        <p:nvSpPr>
          <p:cNvPr id="25" name="Freeform 25"/>
          <p:cNvSpPr/>
          <p:nvPr/>
        </p:nvSpPr>
        <p:spPr>
          <a:xfrm>
            <a:off x="7175196" y="3848060"/>
            <a:ext cx="3718852" cy="229572"/>
          </a:xfrm>
          <a:custGeom>
            <a:avLst/>
            <a:gdLst/>
            <a:ahLst/>
            <a:cxnLst/>
            <a:rect l="l" t="t" r="r" b="b"/>
            <a:pathLst>
              <a:path w="3718852" h="22957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198376" y="4337526"/>
            <a:ext cx="3467068" cy="33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Introduce multilingual support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75196" y="4919394"/>
            <a:ext cx="3718852" cy="229572"/>
          </a:xfrm>
          <a:custGeom>
            <a:avLst/>
            <a:gdLst/>
            <a:ahLst/>
            <a:cxnLst/>
            <a:rect l="l" t="t" r="r" b="b"/>
            <a:pathLst>
              <a:path w="3718852" h="229572">
                <a:moveTo>
                  <a:pt x="0" y="0"/>
                </a:moveTo>
                <a:lnTo>
                  <a:pt x="3718852" y="0"/>
                </a:lnTo>
                <a:lnTo>
                  <a:pt x="3718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207869" y="5226115"/>
            <a:ext cx="2517738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Include virtual tours</a:t>
            </a:r>
          </a:p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richer multimedia</a:t>
            </a:r>
          </a:p>
        </p:txBody>
      </p:sp>
      <p:sp>
        <p:nvSpPr>
          <p:cNvPr id="29" name="Freeform 29"/>
          <p:cNvSpPr/>
          <p:nvPr/>
        </p:nvSpPr>
        <p:spPr>
          <a:xfrm>
            <a:off x="7175196" y="5990729"/>
            <a:ext cx="3718852" cy="229572"/>
          </a:xfrm>
          <a:custGeom>
            <a:avLst/>
            <a:gdLst/>
            <a:ahLst/>
            <a:cxnLst/>
            <a:rect l="l" t="t" r="r" b="b"/>
            <a:pathLst>
              <a:path w="3718852" h="229572">
                <a:moveTo>
                  <a:pt x="0" y="0"/>
                </a:moveTo>
                <a:lnTo>
                  <a:pt x="3718852" y="0"/>
                </a:lnTo>
                <a:lnTo>
                  <a:pt x="3718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226325" y="6476165"/>
            <a:ext cx="3351055" cy="6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Add more interactive quizzes and challenges</a:t>
            </a:r>
          </a:p>
        </p:txBody>
      </p:sp>
      <p:sp>
        <p:nvSpPr>
          <p:cNvPr id="31" name="Freeform 31"/>
          <p:cNvSpPr/>
          <p:nvPr/>
        </p:nvSpPr>
        <p:spPr>
          <a:xfrm>
            <a:off x="0" y="7925691"/>
            <a:ext cx="18288000" cy="1508614"/>
          </a:xfrm>
          <a:custGeom>
            <a:avLst/>
            <a:gdLst/>
            <a:ahLst/>
            <a:cxnLst/>
            <a:rect l="l" t="t" r="r" b="b"/>
            <a:pathLst>
              <a:path w="18288000" h="1508614">
                <a:moveTo>
                  <a:pt x="0" y="0"/>
                </a:moveTo>
                <a:lnTo>
                  <a:pt x="18288000" y="0"/>
                </a:lnTo>
                <a:lnTo>
                  <a:pt x="1828800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393952" y="8133399"/>
            <a:ext cx="3500096" cy="229572"/>
          </a:xfrm>
          <a:custGeom>
            <a:avLst/>
            <a:gdLst/>
            <a:ahLst/>
            <a:cxnLst/>
            <a:rect l="l" t="t" r="r" b="b"/>
            <a:pathLst>
              <a:path w="3500096" h="229572">
                <a:moveTo>
                  <a:pt x="0" y="0"/>
                </a:moveTo>
                <a:lnTo>
                  <a:pt x="3500096" y="0"/>
                </a:lnTo>
                <a:lnTo>
                  <a:pt x="3500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43425" y="8320551"/>
            <a:ext cx="14881645" cy="680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985" b="1">
                <a:solidFill>
                  <a:srgbClr val="F3E3D3"/>
                </a:solidFill>
                <a:latin typeface="Roboto Bold"/>
                <a:ea typeface="Roboto Bold"/>
                <a:cs typeface="Roboto Bold"/>
                <a:sym typeface="Roboto Bold"/>
              </a:rPr>
              <a:t>Preserving the </a:t>
            </a:r>
            <a:r>
              <a:rPr lang="en-US" sz="3985" b="1">
                <a:solidFill>
                  <a:srgbClr val="F0A10D"/>
                </a:solidFill>
                <a:latin typeface="Roboto Bold"/>
                <a:ea typeface="Roboto Bold"/>
                <a:cs typeface="Roboto Bold"/>
                <a:sym typeface="Roboto Bold"/>
              </a:rPr>
              <a:t>Past,</a:t>
            </a:r>
            <a:r>
              <a:rPr lang="en-US" sz="3985" b="1">
                <a:solidFill>
                  <a:srgbClr val="F3E3D3"/>
                </a:solidFill>
                <a:latin typeface="Roboto Bold"/>
                <a:ea typeface="Roboto Bold"/>
                <a:cs typeface="Roboto Bold"/>
                <a:sym typeface="Roboto Bold"/>
              </a:rPr>
              <a:t> Exploring the </a:t>
            </a:r>
            <a:r>
              <a:rPr lang="en-US" sz="3985" b="1">
                <a:solidFill>
                  <a:srgbClr val="F0A10D"/>
                </a:solidFill>
                <a:latin typeface="Roboto Bold"/>
                <a:ea typeface="Roboto Bold"/>
                <a:cs typeface="Roboto Bold"/>
                <a:sym typeface="Roboto Bold"/>
              </a:rPr>
              <a:t>Present,</a:t>
            </a:r>
            <a:r>
              <a:rPr lang="en-US" sz="3985" b="1">
                <a:solidFill>
                  <a:srgbClr val="F3E3D3"/>
                </a:solidFill>
                <a:latin typeface="Roboto Bold"/>
                <a:ea typeface="Roboto Bold"/>
                <a:cs typeface="Roboto Bold"/>
                <a:sym typeface="Roboto Bold"/>
              </a:rPr>
              <a:t> Inspiring the </a:t>
            </a:r>
            <a:r>
              <a:rPr lang="en-US" sz="3985" b="1">
                <a:solidFill>
                  <a:srgbClr val="F0A10D"/>
                </a:solidFill>
                <a:latin typeface="Roboto Bold"/>
                <a:ea typeface="Roboto Bold"/>
                <a:cs typeface="Roboto Bold"/>
                <a:sym typeface="Roboto Bold"/>
              </a:rPr>
              <a:t>Future.</a:t>
            </a:r>
          </a:p>
        </p:txBody>
      </p:sp>
      <p:sp>
        <p:nvSpPr>
          <p:cNvPr id="34" name="Freeform 34"/>
          <p:cNvSpPr/>
          <p:nvPr/>
        </p:nvSpPr>
        <p:spPr>
          <a:xfrm>
            <a:off x="0" y="9204733"/>
            <a:ext cx="3489158" cy="1082267"/>
          </a:xfrm>
          <a:custGeom>
            <a:avLst/>
            <a:gdLst/>
            <a:ahLst/>
            <a:cxnLst/>
            <a:rect l="l" t="t" r="r" b="b"/>
            <a:pathLst>
              <a:path w="3489158" h="1082267">
                <a:moveTo>
                  <a:pt x="0" y="0"/>
                </a:moveTo>
                <a:lnTo>
                  <a:pt x="3489158" y="0"/>
                </a:lnTo>
                <a:lnTo>
                  <a:pt x="348915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478220" y="9204733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956440" y="9204733"/>
            <a:ext cx="3718852" cy="1082267"/>
          </a:xfrm>
          <a:custGeom>
            <a:avLst/>
            <a:gdLst/>
            <a:ahLst/>
            <a:cxnLst/>
            <a:rect l="l" t="t" r="r" b="b"/>
            <a:pathLst>
              <a:path w="3718852" h="1082267">
                <a:moveTo>
                  <a:pt x="0" y="0"/>
                </a:moveTo>
                <a:lnTo>
                  <a:pt x="3718852" y="0"/>
                </a:lnTo>
                <a:lnTo>
                  <a:pt x="3718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445598" y="9204733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923818" y="9204733"/>
            <a:ext cx="3718852" cy="1082267"/>
          </a:xfrm>
          <a:custGeom>
            <a:avLst/>
            <a:gdLst/>
            <a:ahLst/>
            <a:cxnLst/>
            <a:rect l="l" t="t" r="r" b="b"/>
            <a:pathLst>
              <a:path w="3718852" h="1082267">
                <a:moveTo>
                  <a:pt x="0" y="0"/>
                </a:moveTo>
                <a:lnTo>
                  <a:pt x="3718852" y="0"/>
                </a:lnTo>
                <a:lnTo>
                  <a:pt x="3718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7412976" y="9204733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4086" y="1071335"/>
            <a:ext cx="1750048" cy="218640"/>
          </a:xfrm>
          <a:custGeom>
            <a:avLst/>
            <a:gdLst/>
            <a:ahLst/>
            <a:cxnLst/>
            <a:rect l="l" t="t" r="r" b="b"/>
            <a:pathLst>
              <a:path w="1750048" h="218640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45876" y="1920047"/>
            <a:ext cx="12051760" cy="1513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96"/>
              </a:lnSpc>
            </a:pPr>
            <a:r>
              <a:rPr lang="en-US" sz="10000" b="1" dirty="0">
                <a:solidFill>
                  <a:srgbClr val="621A1A"/>
                </a:solidFill>
                <a:latin typeface="Roboto Bold"/>
                <a:ea typeface="Roboto Bold"/>
                <a:cs typeface="Roboto Bold"/>
                <a:sym typeface="Roboto Bold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3421712"/>
            <a:ext cx="6978316" cy="437279"/>
          </a:xfrm>
          <a:custGeom>
            <a:avLst/>
            <a:gdLst/>
            <a:ahLst/>
            <a:cxnLst/>
            <a:rect l="l" t="t" r="r" b="b"/>
            <a:pathLst>
              <a:path w="6978316" h="437279">
                <a:moveTo>
                  <a:pt x="0" y="0"/>
                </a:moveTo>
                <a:lnTo>
                  <a:pt x="6978316" y="0"/>
                </a:lnTo>
                <a:lnTo>
                  <a:pt x="6978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2079" y="4017564"/>
            <a:ext cx="7911671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dirty="0">
                <a:solidFill>
                  <a:srgbClr val="152039"/>
                </a:solidFill>
                <a:latin typeface="Roboto"/>
                <a:ea typeface="Roboto"/>
                <a:cs typeface="Roboto"/>
                <a:sym typeface="Roboto"/>
              </a:rPr>
              <a:t>Discover. Explore. Learn. Celebrate </a:t>
            </a:r>
            <a:r>
              <a:rPr lang="en-US" sz="2759" b="1" dirty="0">
                <a:solidFill>
                  <a:srgbClr val="152039"/>
                </a:solidFill>
                <a:latin typeface="Roboto Bold"/>
                <a:ea typeface="Roboto Bold"/>
                <a:cs typeface="Roboto Bold"/>
                <a:sym typeface="Roboto Bold"/>
              </a:rPr>
              <a:t>Our Heritage.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073" y="4953946"/>
            <a:ext cx="5454419" cy="70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b="1">
                <a:solidFill>
                  <a:srgbClr val="621A1A"/>
                </a:solidFill>
                <a:latin typeface="Roboto Bold"/>
                <a:ea typeface="Roboto Bold"/>
                <a:cs typeface="Roboto Bold"/>
                <a:sym typeface="Roboto Bold"/>
              </a:rPr>
              <a:t>HERITAGE</a:t>
            </a:r>
            <a:r>
              <a:rPr lang="en-US" sz="5277" b="1">
                <a:solidFill>
                  <a:srgbClr val="F4A60B"/>
                </a:solidFill>
                <a:latin typeface="Roboto Bold"/>
                <a:ea typeface="Roboto Bold"/>
                <a:cs typeface="Roboto Bold"/>
                <a:sym typeface="Roboto Bold"/>
              </a:rPr>
              <a:t>QUEST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165" y="6005741"/>
            <a:ext cx="1803065" cy="2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 b="1">
                <a:solidFill>
                  <a:srgbClr val="152039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074" y="6593114"/>
            <a:ext cx="9112123" cy="2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>
                <a:solidFill>
                  <a:srgbClr val="152039"/>
                </a:solidFill>
                <a:latin typeface="Roboto"/>
                <a:ea typeface="Roboto"/>
                <a:cs typeface="Roboto"/>
                <a:sym typeface="Roboto"/>
              </a:rPr>
              <a:t>Ch. Deekshitha | G. Yaswini Priya | M. Aloukitha Surin | Ch. Varalakshmi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7347" y="7240730"/>
            <a:ext cx="3384863" cy="2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 b="1">
                <a:solidFill>
                  <a:srgbClr val="152039"/>
                </a:solidFill>
                <a:latin typeface="Roboto Bold"/>
                <a:ea typeface="Roboto Bold"/>
                <a:cs typeface="Roboto Bold"/>
                <a:sym typeface="Roboto Bold"/>
              </a:rPr>
              <a:t>III B.Tech CSE – NBKRIST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4756" y="7978682"/>
            <a:ext cx="9643885" cy="2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>
                <a:solidFill>
                  <a:srgbClr val="152039"/>
                </a:solidFill>
                <a:latin typeface="Roboto"/>
                <a:ea typeface="Roboto"/>
                <a:cs typeface="Roboto"/>
                <a:sym typeface="Roboto"/>
              </a:rPr>
              <a:t>Project website: </a:t>
            </a:r>
            <a:r>
              <a:rPr lang="en-US" sz="2179" b="1">
                <a:solidFill>
                  <a:srgbClr val="621A1A"/>
                </a:solidFill>
                <a:latin typeface="Roboto Bold"/>
                <a:ea typeface="Roboto Bold"/>
                <a:cs typeface="Roboto Bold"/>
                <a:sym typeface="Roboto Bold"/>
              </a:rPr>
              <a:t>https://heritagequest-bc271zocz-prompters3.vercel.app/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8352038"/>
            <a:ext cx="4364182" cy="1300906"/>
          </a:xfrm>
          <a:custGeom>
            <a:avLst/>
            <a:gdLst/>
            <a:ahLst/>
            <a:cxnLst/>
            <a:rect l="l" t="t" r="r" b="b"/>
            <a:pathLst>
              <a:path w="4364182" h="1300906">
                <a:moveTo>
                  <a:pt x="0" y="0"/>
                </a:moveTo>
                <a:lnTo>
                  <a:pt x="4364182" y="0"/>
                </a:lnTo>
                <a:lnTo>
                  <a:pt x="436418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134488" y="8352038"/>
            <a:ext cx="5009512" cy="1300906"/>
          </a:xfrm>
          <a:custGeom>
            <a:avLst/>
            <a:gdLst/>
            <a:ahLst/>
            <a:cxnLst/>
            <a:rect l="l" t="t" r="r" b="b"/>
            <a:pathLst>
              <a:path w="5009512" h="1300906">
                <a:moveTo>
                  <a:pt x="0" y="0"/>
                </a:moveTo>
                <a:lnTo>
                  <a:pt x="5009512" y="0"/>
                </a:lnTo>
                <a:lnTo>
                  <a:pt x="500951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144000" y="8352038"/>
            <a:ext cx="4790756" cy="1300906"/>
          </a:xfrm>
          <a:custGeom>
            <a:avLst/>
            <a:gdLst/>
            <a:ahLst/>
            <a:cxnLst/>
            <a:rect l="l" t="t" r="r" b="b"/>
            <a:pathLst>
              <a:path w="4790756" h="1300906">
                <a:moveTo>
                  <a:pt x="0" y="0"/>
                </a:moveTo>
                <a:lnTo>
                  <a:pt x="4790756" y="0"/>
                </a:lnTo>
                <a:lnTo>
                  <a:pt x="479075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23818" y="0"/>
            <a:ext cx="4364182" cy="9652945"/>
          </a:xfrm>
          <a:custGeom>
            <a:avLst/>
            <a:gdLst/>
            <a:ahLst/>
            <a:cxnLst/>
            <a:rect l="l" t="t" r="r" b="b"/>
            <a:pathLst>
              <a:path w="4364182" h="9652945">
                <a:moveTo>
                  <a:pt x="0" y="0"/>
                </a:moveTo>
                <a:lnTo>
                  <a:pt x="4364182" y="0"/>
                </a:lnTo>
                <a:lnTo>
                  <a:pt x="436418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833</Words>
  <Application>Microsoft Office PowerPoint</Application>
  <PresentationFormat>Custom</PresentationFormat>
  <Paragraphs>231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Bebas Neue</vt:lpstr>
      <vt:lpstr>Inter Semi-Bold</vt:lpstr>
      <vt:lpstr>Calibri</vt:lpstr>
      <vt:lpstr>Arial</vt:lpstr>
      <vt:lpstr>Roboto</vt:lpstr>
      <vt:lpstr>Roboto Bold</vt:lpstr>
      <vt:lpstr>Bebas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HeritageQuest Project</dc:title>
  <dc:creator>Aloukitha</dc:creator>
  <cp:lastModifiedBy>Saloni M</cp:lastModifiedBy>
  <cp:revision>2</cp:revision>
  <dcterms:created xsi:type="dcterms:W3CDTF">2006-08-16T00:00:00Z</dcterms:created>
  <dcterms:modified xsi:type="dcterms:W3CDTF">2026-10-30T13:50:11Z</dcterms:modified>
  <dc:identifier>DAHZcrFjbYE</dc:identifier>
</cp:coreProperties>
</file>